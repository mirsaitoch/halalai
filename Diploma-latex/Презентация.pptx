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6" r:id="rId4"/>
    <p:sldMasterId id="2147483667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EF87AC3-0995-4CF7-9E24-4A9C199C7E75}">
  <a:tblStyle styleId="{2EF87AC3-0995-4CF7-9E24-4A9C199C7E75}" styleName="Table_0">
    <a:wholeTbl>
      <a:tcTxStyle b="off" i="off">
        <a:font>
          <a:latin typeface="Calibri"/>
          <a:ea typeface="Calibri"/>
          <a:cs typeface="Calibri"/>
        </a:font>
        <a:srgbClr val="262626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D0DEEF"/>
          </a:solidFill>
        </a:fill>
      </a:tcStyle>
    </a:wholeTbl>
    <a:band1H>
      <a:tcTxStyle/>
    </a:band1H>
    <a:band2H>
      <a:tcTxStyle b="off" i="off"/>
      <a:tcStyle>
        <a:fill>
          <a:solidFill>
            <a:srgbClr val="E9EFF7"/>
          </a:solidFill>
        </a:fill>
      </a:tcStyle>
    </a:band2H>
    <a:band1V>
      <a:tcTxStyle/>
    </a:band1V>
    <a:band2V>
      <a:tcTxStyle/>
    </a:band2V>
    <a:lastCol>
      <a:tcTxStyle/>
    </a:lastCol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e8f11ca839_0_28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e8f11ca839_0_2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e8f11ca839_0_2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e8f11ca839_0_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e8f11ca839_0_17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g3e8f11ca839_0_1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8f11ca839_0_20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8f11ca839_0_2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e8f11ca839_0_2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3e8f11ca839_0_2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1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1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4" name="Google Shape;484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685800" y="1122362"/>
            <a:ext cx="7772400" cy="238760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143000" y="3602037"/>
            <a:ext cx="6858000" cy="16557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>
  <p:cSld name="Заголовок раздела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623887" y="1709739"/>
            <a:ext cx="788670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623887" y="4589464"/>
            <a:ext cx="7886701" cy="150018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9841" y="365125"/>
            <a:ext cx="7886701" cy="132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629841" y="1681163"/>
            <a:ext cx="3868342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2" type="body"/>
          </p:nvPr>
        </p:nvSpPr>
        <p:spPr>
          <a:xfrm>
            <a:off x="4629148" y="1681163"/>
            <a:ext cx="3887394" cy="82391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Только заголовок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" type="body"/>
          </p:nvPr>
        </p:nvSpPr>
        <p:spPr>
          <a:xfrm>
            <a:off x="3887391" y="987425"/>
            <a:ext cx="4629152" cy="4873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3200"/>
              <a:buChar char="•"/>
              <a:defRPr sz="32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2" type="body"/>
          </p:nvPr>
        </p:nvSpPr>
        <p:spPr>
          <a:xfrm>
            <a:off x="629839" y="2057400"/>
            <a:ext cx="2949182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10"/>
          <p:cNvSpPr/>
          <p:nvPr>
            <p:ph idx="2" type="pic"/>
          </p:nvPr>
        </p:nvSpPr>
        <p:spPr>
          <a:xfrm>
            <a:off x="3887391" y="987425"/>
            <a:ext cx="4629152" cy="4873627"/>
          </a:xfrm>
          <a:prstGeom prst="rect">
            <a:avLst/>
          </a:prstGeom>
          <a:noFill/>
          <a:ln>
            <a:noFill/>
          </a:ln>
        </p:spPr>
      </p:sp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type="title"/>
          </p:nvPr>
        </p:nvSpPr>
        <p:spPr>
          <a:xfrm>
            <a:off x="685800" y="1122362"/>
            <a:ext cx="7772400" cy="238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" type="body"/>
          </p:nvPr>
        </p:nvSpPr>
        <p:spPr>
          <a:xfrm>
            <a:off x="1143000" y="3602037"/>
            <a:ext cx="6858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>
  <p:cSld name="Заголовок раздела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623887" y="1709739"/>
            <a:ext cx="7886700" cy="28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623887" y="4589464"/>
            <a:ext cx="78867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>
  <p:cSld name="Два объекта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628650" y="1825625"/>
            <a:ext cx="38862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>
  <p:cSld name="Сравнение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629841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" type="body"/>
          </p:nvPr>
        </p:nvSpPr>
        <p:spPr>
          <a:xfrm>
            <a:off x="629841" y="1681163"/>
            <a:ext cx="38682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  <a:defRPr b="1" sz="24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2" type="body"/>
          </p:nvPr>
        </p:nvSpPr>
        <p:spPr>
          <a:xfrm>
            <a:off x="4629148" y="1681163"/>
            <a:ext cx="3887400" cy="823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>
  <p:cSld name="Только заголовок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>
  <p:cSld name="Пустой слайд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8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>
  <p:cSld name="Объект с подписью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7" name="Google Shape;77;p19"/>
          <p:cNvSpPr txBox="1"/>
          <p:nvPr>
            <p:ph idx="1" type="body"/>
          </p:nvPr>
        </p:nvSpPr>
        <p:spPr>
          <a:xfrm>
            <a:off x="3887391" y="987425"/>
            <a:ext cx="4629300" cy="4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318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2pPr>
            <a:lvl3pPr indent="-4318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3pPr>
            <a:lvl4pPr indent="-4318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4pPr>
            <a:lvl5pPr indent="-4318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•"/>
              <a:defRPr sz="32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2" type="body"/>
          </p:nvPr>
        </p:nvSpPr>
        <p:spPr>
          <a:xfrm>
            <a:off x="629838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1pPr>
            <a:lvl2pPr indent="-4064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2pPr>
            <a:lvl3pPr indent="-4064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3pPr>
            <a:lvl4pPr indent="-4064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4pPr>
            <a:lvl5pPr indent="-4064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79" name="Google Shape;79;p19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>
  <p:cSld name="Рисунок с подписью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0"/>
          <p:cNvSpPr txBox="1"/>
          <p:nvPr>
            <p:ph type="title"/>
          </p:nvPr>
        </p:nvSpPr>
        <p:spPr>
          <a:xfrm>
            <a:off x="629841" y="457200"/>
            <a:ext cx="294930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675" lIns="45675" spcFirstLastPara="1" rIns="45675" wrap="square" tIns="456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82" name="Google Shape;82;p20"/>
          <p:cNvSpPr/>
          <p:nvPr>
            <p:ph idx="2" type="pic"/>
          </p:nvPr>
        </p:nvSpPr>
        <p:spPr>
          <a:xfrm>
            <a:off x="3887391" y="987425"/>
            <a:ext cx="46293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20"/>
          <p:cNvSpPr txBox="1"/>
          <p:nvPr>
            <p:ph idx="1" type="body"/>
          </p:nvPr>
        </p:nvSpPr>
        <p:spPr>
          <a:xfrm>
            <a:off x="629841" y="2057400"/>
            <a:ext cx="29493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2pPr>
            <a:lvl3pPr indent="-228600" lvl="2" marL="1371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3pPr>
            <a:lvl4pPr indent="-228600" lvl="3" marL="1828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4pPr>
            <a:lvl5pPr indent="-228600" lvl="4" marL="2286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  <a:defRPr sz="1600"/>
            </a:lvl5pPr>
            <a:lvl6pPr indent="-406400" lvl="5" marL="2743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6pPr>
            <a:lvl7pPr indent="-406400" lvl="6" marL="3200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7pPr>
            <a:lvl8pPr indent="-406400" lvl="7" marL="3657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8pPr>
            <a:lvl9pPr indent="-406400" lvl="8" marL="4114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•"/>
              <a:defRPr/>
            </a:lvl9pPr>
          </a:lstStyle>
          <a:p/>
        </p:txBody>
      </p:sp>
      <p:sp>
        <p:nvSpPr>
          <p:cNvPr id="84" name="Google Shape;84;p20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1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8650" y="365125"/>
            <a:ext cx="7886700" cy="1325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256728" y="6414762"/>
            <a:ext cx="258623" cy="248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type="title"/>
          </p:nvPr>
        </p:nvSpPr>
        <p:spPr>
          <a:xfrm>
            <a:off x="628650" y="365125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defRPr b="0" i="0" sz="4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628650" y="1825625"/>
            <a:ext cx="78867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normAutofit/>
          </a:bodyPr>
          <a:lstStyle>
            <a:lvl1pPr indent="-406400" lvl="0" marL="457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06400" lvl="2" marL="1371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06400" lvl="3" marL="1828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06400" lvl="4" marL="22860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06400" lvl="5" marL="27432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06400" lvl="6" marL="32004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06400" lvl="7" marL="36576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06400" lvl="8" marL="4114800" marR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256767" y="6414781"/>
            <a:ext cx="258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675" lIns="45675" spcFirstLastPara="1" rIns="45675" wrap="square" tIns="45675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7.png"/><Relationship Id="rId11" Type="http://schemas.openxmlformats.org/officeDocument/2006/relationships/image" Target="../media/image3.png"/><Relationship Id="rId10" Type="http://schemas.openxmlformats.org/officeDocument/2006/relationships/image" Target="../media/image6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.png"/><Relationship Id="rId7" Type="http://schemas.openxmlformats.org/officeDocument/2006/relationships/image" Target="../media/image8.png"/><Relationship Id="rId8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6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Relationship Id="rId4" Type="http://schemas.openxmlformats.org/officeDocument/2006/relationships/image" Target="../media/image2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1"/>
          <p:cNvSpPr txBox="1"/>
          <p:nvPr>
            <p:ph idx="4294967295" type="ctrTitle"/>
          </p:nvPr>
        </p:nvSpPr>
        <p:spPr>
          <a:xfrm>
            <a:off x="0" y="879975"/>
            <a:ext cx="9144000" cy="2492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Проектирование и реализация iOS-приложения как комплексного помощника для мусульман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1"/>
          <p:cNvSpPr txBox="1"/>
          <p:nvPr/>
        </p:nvSpPr>
        <p:spPr>
          <a:xfrm>
            <a:off x="237547" y="3895049"/>
            <a:ext cx="7518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</a:rPr>
              <a:t>Выполнил: </a:t>
            </a:r>
            <a:br>
              <a:rPr b="1" i="0" lang="en-US" sz="2400" u="none" cap="none" strike="noStrike">
                <a:solidFill>
                  <a:srgbClr val="262626"/>
                </a:solidFill>
              </a:rPr>
            </a:br>
            <a:r>
              <a:rPr i="0" lang="en-US" sz="2400" u="none" cap="none" strike="noStrike">
                <a:solidFill>
                  <a:srgbClr val="262626"/>
                </a:solidFill>
              </a:rPr>
              <a:t>Сабирзянов Мирсаит Раисович, гр. 5130903/20301</a:t>
            </a:r>
            <a:endParaRPr i="0" sz="2400" u="none" cap="none" strike="noStrike">
              <a:solidFill>
                <a:srgbClr val="262626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262626"/>
                </a:solidFill>
              </a:rPr>
              <a:t>Научный руководитель: </a:t>
            </a:r>
            <a:br>
              <a:rPr b="1" i="0" lang="en-US" sz="2400" u="none" cap="none" strike="noStrike">
                <a:solidFill>
                  <a:srgbClr val="262626"/>
                </a:solidFill>
              </a:rPr>
            </a:br>
            <a:r>
              <a:rPr i="0" lang="en-US" sz="2400" u="none" cap="none" strike="noStrike">
                <a:solidFill>
                  <a:srgbClr val="262626"/>
                </a:solidFill>
              </a:rPr>
              <a:t>Сергеев Анатолий Васильевич, доцент ВШПИ, к.т.н.</a:t>
            </a:r>
            <a:endParaRPr/>
          </a:p>
        </p:txBody>
      </p:sp>
      <p:pic>
        <p:nvPicPr>
          <p:cNvPr descr="Рисунок 4" id="91" name="Google Shape;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365" y="282000"/>
            <a:ext cx="2160961" cy="574199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1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21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1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1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/>
          <p:nvPr/>
        </p:nvSpPr>
        <p:spPr>
          <a:xfrm>
            <a:off x="424875" y="1111125"/>
            <a:ext cx="8574000" cy="22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50394" lvl="0" marL="15039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262626"/>
                </a:solidFill>
              </a:rPr>
              <a:t>Более 50–60% глобального интернет-трафика приходится на мобильные устройства</a:t>
            </a:r>
            <a:br>
              <a:rPr i="0" lang="en-US" sz="1600" u="none" cap="none" strike="noStrike">
                <a:solidFill>
                  <a:srgbClr val="262626"/>
                </a:solidFill>
              </a:rPr>
            </a:br>
            <a:r>
              <a:rPr i="0" lang="en-US" sz="1600" u="none" cap="none" strike="noStrike">
                <a:solidFill>
                  <a:srgbClr val="262626"/>
                </a:solidFill>
              </a:rPr>
              <a:t>(по данным DataReportal и Statista)</a:t>
            </a:r>
            <a:endParaRPr sz="1600"/>
          </a:p>
          <a:p>
            <a:pPr indent="-150394" lvl="0" marL="15039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262626"/>
                </a:solidFill>
              </a:rPr>
              <a:t>Смартфоны используют около 70% населения мира (по данным Statista)</a:t>
            </a:r>
            <a:endParaRPr sz="1600"/>
          </a:p>
          <a:p>
            <a:pPr indent="-150394" lvl="0" marL="15039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262626"/>
                </a:solidFill>
              </a:rPr>
              <a:t>Мусульманское население мира составляет около 2 млрд человек и продолжает расти</a:t>
            </a:r>
            <a:br>
              <a:rPr i="0" lang="en-US" sz="1600" u="none" cap="none" strike="noStrike">
                <a:solidFill>
                  <a:srgbClr val="262626"/>
                </a:solidFill>
              </a:rPr>
            </a:br>
            <a:r>
              <a:rPr i="0" lang="en-US" sz="1600" u="none" cap="none" strike="noStrike">
                <a:solidFill>
                  <a:srgbClr val="262626"/>
                </a:solidFill>
              </a:rPr>
              <a:t>(по данным Pew Research Center)</a:t>
            </a:r>
            <a:endParaRPr sz="1600"/>
          </a:p>
          <a:p>
            <a:pPr indent="-150394" lvl="0" marL="150394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262626"/>
                </a:solidFill>
              </a:rPr>
              <a:t>Это формирует устойчивый спрос на цифровые халяль-ориентированные сервисы</a:t>
            </a:r>
            <a:br>
              <a:rPr i="0" lang="en-US" sz="1600" u="none" cap="none" strike="noStrike">
                <a:solidFill>
                  <a:srgbClr val="262626"/>
                </a:solidFill>
              </a:rPr>
            </a:br>
            <a:r>
              <a:rPr i="0" lang="en-US" sz="1600" u="none" cap="none" strike="noStrike">
                <a:solidFill>
                  <a:srgbClr val="262626"/>
                </a:solidFill>
              </a:rPr>
              <a:t>и мобильные религиозные приложения</a:t>
            </a:r>
            <a:endParaRPr sz="1600"/>
          </a:p>
        </p:txBody>
      </p:sp>
      <p:sp>
        <p:nvSpPr>
          <p:cNvPr id="101" name="Google Shape;101;p22"/>
          <p:cNvSpPr txBox="1"/>
          <p:nvPr/>
        </p:nvSpPr>
        <p:spPr>
          <a:xfrm>
            <a:off x="535930" y="338097"/>
            <a:ext cx="77454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Актуальность</a:t>
            </a:r>
            <a:r>
              <a:rPr b="1" i="0" lang="en-US" sz="2400" u="none" cap="none" strike="noStrike">
                <a:solidFill>
                  <a:srgbClr val="000000"/>
                </a:solidFill>
              </a:rPr>
              <a:t> </a:t>
            </a:r>
            <a:endParaRPr b="1"/>
          </a:p>
        </p:txBody>
      </p:sp>
      <p:pic>
        <p:nvPicPr>
          <p:cNvPr descr="Изображение" id="102" name="Google Shape;10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87300" y="3626551"/>
            <a:ext cx="4711574" cy="265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DII-graphics-webready-01.png" id="103" name="Google Shape;10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0001" y="3675175"/>
            <a:ext cx="3861537" cy="272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2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2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22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2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108" name="Google Shape;108;p22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109" name="Google Shape;109;p22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/>
        </p:nvSpPr>
        <p:spPr>
          <a:xfrm>
            <a:off x="563926" y="437849"/>
            <a:ext cx="77454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Цель </a:t>
            </a:r>
            <a:endParaRPr b="1"/>
          </a:p>
        </p:txBody>
      </p:sp>
      <p:sp>
        <p:nvSpPr>
          <p:cNvPr id="115" name="Google Shape;115;p23"/>
          <p:cNvSpPr txBox="1"/>
          <p:nvPr/>
        </p:nvSpPr>
        <p:spPr>
          <a:xfrm>
            <a:off x="563925" y="930097"/>
            <a:ext cx="82152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Font typeface="Calibri"/>
              <a:buNone/>
            </a:pPr>
            <a:r>
              <a:rPr i="0" lang="en-US" sz="1800" u="none" cap="none" strike="noStrike">
                <a:solidFill>
                  <a:srgbClr val="262626"/>
                </a:solidFill>
              </a:rPr>
              <a:t>Разработка многофункционального iOS-приложения для мусульман, включающего: сканер продуктов для определения халяльности, чат с искусственным интеллектом на основе Корана, напоминания о намазах и доступ к текстам сур и аятов</a:t>
            </a:r>
            <a:endParaRPr sz="1800"/>
          </a:p>
        </p:txBody>
      </p:sp>
      <p:sp>
        <p:nvSpPr>
          <p:cNvPr id="116" name="Google Shape;116;p23"/>
          <p:cNvSpPr txBox="1"/>
          <p:nvPr/>
        </p:nvSpPr>
        <p:spPr>
          <a:xfrm>
            <a:off x="597526" y="2130691"/>
            <a:ext cx="77454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Задачи</a:t>
            </a:r>
            <a:endParaRPr b="1"/>
          </a:p>
        </p:txBody>
      </p:sp>
      <p:sp>
        <p:nvSpPr>
          <p:cNvPr id="117" name="Google Shape;117;p23"/>
          <p:cNvSpPr txBox="1"/>
          <p:nvPr/>
        </p:nvSpPr>
        <p:spPr>
          <a:xfrm>
            <a:off x="597525" y="2620977"/>
            <a:ext cx="8148000" cy="3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73120" lvl="0" marL="1604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Провести анализ предметной области и существующих решений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Сформулировать функциональные и нефункциональные требования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Спроектировать архитектуру системы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Спроектировать базу данных для продуктов, пользователей и религиозных текстов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Разработать серверное API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Реализовать LLM-сервис с RAG для ответов на основе Корана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Разработать iOS-приложение</a:t>
            </a:r>
            <a:endParaRPr sz="1800"/>
          </a:p>
          <a:p>
            <a:pPr indent="-173120" lvl="0" marL="16042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262626"/>
              </a:buClr>
              <a:buSzPts val="1800"/>
              <a:buChar char="•"/>
            </a:pPr>
            <a:r>
              <a:rPr i="0" lang="en-US" sz="1800" u="none" cap="none" strike="noStrike">
                <a:solidFill>
                  <a:srgbClr val="262626"/>
                </a:solidFill>
              </a:rPr>
              <a:t>Интегрировать систему и провести тестирование всех модулей</a:t>
            </a:r>
            <a:endParaRPr sz="1800"/>
          </a:p>
        </p:txBody>
      </p:sp>
      <p:sp>
        <p:nvSpPr>
          <p:cNvPr id="118" name="Google Shape;118;p23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23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23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23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122" name="Google Shape;122;p23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123" name="Google Shape;123;p23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3 / 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/>
          <p:nvPr/>
        </p:nvSpPr>
        <p:spPr>
          <a:xfrm>
            <a:off x="476763" y="562426"/>
            <a:ext cx="76539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Анализ существующих решений</a:t>
            </a:r>
            <a:endParaRPr b="1"/>
          </a:p>
        </p:txBody>
      </p:sp>
      <p:graphicFrame>
        <p:nvGraphicFramePr>
          <p:cNvPr id="129" name="Google Shape;129;p24"/>
          <p:cNvGraphicFramePr/>
          <p:nvPr/>
        </p:nvGraphicFramePr>
        <p:xfrm>
          <a:off x="45720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{2EF87AC3-0995-4CF7-9E24-4A9C199C7E75}</a:tableStyleId>
              </a:tblPr>
              <a:tblGrid>
                <a:gridCol w="2011675"/>
                <a:gridCol w="1554475"/>
                <a:gridCol w="1554475"/>
                <a:gridCol w="1554475"/>
                <a:gridCol w="1554475"/>
              </a:tblGrid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Критерий</a:t>
                      </a:r>
                      <a:endParaRPr sz="1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HalalCheck</a:t>
                      </a:r>
                      <a:endParaRPr sz="1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HalalGuide</a:t>
                      </a:r>
                      <a:endParaRPr sz="1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Muslim Pro</a:t>
                      </a:r>
                      <a:endParaRPr sz="1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Noor AI</a:t>
                      </a:r>
                      <a:endParaRPr sz="1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Сканер состава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✅ (платно)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AI-ассистент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Время намаза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Коран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Локализация (РФ)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587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Все функции вместе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❌</a:t>
                      </a:r>
                      <a:endParaRPr sz="1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24"/>
          <p:cNvSpPr txBox="1"/>
          <p:nvPr/>
        </p:nvSpPr>
        <p:spPr>
          <a:xfrm>
            <a:off x="468457" y="5635247"/>
            <a:ext cx="79086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Ни одно решение не совмещает все 4 модуля одновременно</a:t>
            </a:r>
            <a:endParaRPr sz="1600"/>
          </a:p>
        </p:txBody>
      </p:sp>
      <p:sp>
        <p:nvSpPr>
          <p:cNvPr id="131" name="Google Shape;131;p24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4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4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4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135" name="Google Shape;135;p24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136" name="Google Shape;136;p24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/>
        </p:nvSpPr>
        <p:spPr>
          <a:xfrm>
            <a:off x="609646" y="300000"/>
            <a:ext cx="76539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Требования к системе</a:t>
            </a:r>
            <a:endParaRPr b="1"/>
          </a:p>
        </p:txBody>
      </p:sp>
      <p:sp>
        <p:nvSpPr>
          <p:cNvPr id="142" name="Google Shape;142;p25"/>
          <p:cNvSpPr/>
          <p:nvPr/>
        </p:nvSpPr>
        <p:spPr>
          <a:xfrm>
            <a:off x="457200" y="1234439"/>
            <a:ext cx="8229600" cy="2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 txBox="1"/>
          <p:nvPr/>
        </p:nvSpPr>
        <p:spPr>
          <a:xfrm>
            <a:off x="502920" y="1371600"/>
            <a:ext cx="37491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</a:rPr>
              <a:t>Функциональные требования</a:t>
            </a:r>
            <a:endParaRPr/>
          </a:p>
        </p:txBody>
      </p:sp>
      <p:sp>
        <p:nvSpPr>
          <p:cNvPr id="144" name="Google Shape;144;p25"/>
          <p:cNvSpPr txBox="1"/>
          <p:nvPr/>
        </p:nvSpPr>
        <p:spPr>
          <a:xfrm>
            <a:off x="502920" y="1828800"/>
            <a:ext cx="3749100" cy="428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66771" lvl="0" marL="16042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Регистрация и аутентификация пользователей (JWT)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Сканирование состава продуктов через камеру (OCR)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Классификация ингредиентов: халяль / харам / сомнительный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AI-чат с ответами на основе текстов Корана (RAG)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Поддержка пользовательских LLM-моделей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lang="en-US" sz="1700"/>
              <a:t>Расчет</a:t>
            </a:r>
            <a:r>
              <a:rPr i="0" lang="en-US" sz="1700" u="none" cap="none" strike="noStrike">
                <a:solidFill>
                  <a:srgbClr val="000000"/>
                </a:solidFill>
              </a:rPr>
              <a:t> времени намаза по геолокации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Уведомления о времени намаза</a:t>
            </a:r>
            <a:endParaRPr sz="1700"/>
          </a:p>
          <a:p>
            <a:pPr indent="-16677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700"/>
              <a:buChar char="•"/>
            </a:pPr>
            <a:r>
              <a:rPr i="0" lang="en-US" sz="1700" u="none" cap="none" strike="noStrike">
                <a:solidFill>
                  <a:srgbClr val="000000"/>
                </a:solidFill>
              </a:rPr>
              <a:t>Чтение сур и аятов Корана</a:t>
            </a:r>
            <a:endParaRPr sz="1700"/>
          </a:p>
        </p:txBody>
      </p:sp>
      <p:sp>
        <p:nvSpPr>
          <p:cNvPr id="145" name="Google Shape;145;p25"/>
          <p:cNvSpPr txBox="1"/>
          <p:nvPr/>
        </p:nvSpPr>
        <p:spPr>
          <a:xfrm>
            <a:off x="4709160" y="1371600"/>
            <a:ext cx="3931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</a:rPr>
              <a:t>Нефункциональные требования</a:t>
            </a:r>
            <a:endParaRPr/>
          </a:p>
        </p:txBody>
      </p:sp>
      <p:sp>
        <p:nvSpPr>
          <p:cNvPr id="146" name="Google Shape;146;p25"/>
          <p:cNvSpPr txBox="1"/>
          <p:nvPr/>
        </p:nvSpPr>
        <p:spPr>
          <a:xfrm>
            <a:off x="4709160" y="1828800"/>
            <a:ext cx="3931800" cy="2728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-160421" lvl="0" marL="16042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Время ответа API: &lt; 3 сек для стандартных запросов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Время ответа AI-чата: &lt; 30 сек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Доступность системы: ≥ 99%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Безопасность: JWT-аутентификация, HTTPS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Поддержка iOS 17+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/>
              <a:t>Минимизировать использование </a:t>
            </a:r>
            <a:r>
              <a:rPr lang="en-US" sz="1600"/>
              <a:t>внешних</a:t>
            </a:r>
            <a:r>
              <a:rPr lang="en-US" sz="1600"/>
              <a:t> библиотек и модулей</a:t>
            </a:r>
            <a:endParaRPr sz="1600"/>
          </a:p>
        </p:txBody>
      </p:sp>
      <p:sp>
        <p:nvSpPr>
          <p:cNvPr id="147" name="Google Shape;147;p25"/>
          <p:cNvSpPr/>
          <p:nvPr/>
        </p:nvSpPr>
        <p:spPr>
          <a:xfrm>
            <a:off x="4434840" y="1325880"/>
            <a:ext cx="25001" cy="5029201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245719" y="6452999"/>
            <a:ext cx="1615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152" name="Google Shape;152;p25"/>
          <p:cNvSpPr txBox="1"/>
          <p:nvPr/>
        </p:nvSpPr>
        <p:spPr>
          <a:xfrm>
            <a:off x="2737405" y="6452999"/>
            <a:ext cx="36252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 / 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Общая архитектура системы</a:t>
            </a:r>
            <a:endParaRPr b="1"/>
          </a:p>
        </p:txBody>
      </p:sp>
      <p:sp>
        <p:nvSpPr>
          <p:cNvPr id="159" name="Google Shape;159;p26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4693463" y="1176059"/>
            <a:ext cx="3200400" cy="43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iOS-клиент (SwiftUI)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SwiftUI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Coordinator navigation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REST API calls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t/>
            </a:r>
            <a:endParaRPr i="0" sz="1600" u="none" cap="none" strike="noStrike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Backend (Spring Boot)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Java 17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JWT-аутентификация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PostgreSQL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t/>
            </a:r>
            <a:endParaRPr i="0" sz="1600" u="none" cap="none" strike="noStrike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LLM Service (FastAPI)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Python 3.9+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RAG + векторный поиск</a:t>
            </a:r>
            <a:endParaRPr sz="1600"/>
          </a:p>
          <a:p>
            <a:pPr indent="-120315" lvl="0" marL="12031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  OpenRouter (LLM)</a:t>
            </a:r>
            <a:endParaRPr sz="1600"/>
          </a:p>
        </p:txBody>
      </p:sp>
      <p:sp>
        <p:nvSpPr>
          <p:cNvPr id="161" name="Google Shape;161;p26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6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6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165" name="Google Shape;165;p26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166" name="Google Shape;166;p26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Изображение" id="167" name="Google Shape;167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075" y="1152263"/>
            <a:ext cx="4147000" cy="52821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68" name="Google Shape;16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06448" y="5190342"/>
            <a:ext cx="571501" cy="571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69" name="Google Shape;169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06448" y="4325390"/>
            <a:ext cx="571501" cy="6275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70" name="Google Shape;170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45271" y="2699182"/>
            <a:ext cx="571501" cy="571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71" name="Google Shape;171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306448" y="2699182"/>
            <a:ext cx="571501" cy="571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72" name="Google Shape;172;p2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306448" y="3498660"/>
            <a:ext cx="571501" cy="5893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73" name="Google Shape;173;p2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145271" y="4353431"/>
            <a:ext cx="571501" cy="571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74" name="Google Shape;174;p2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306448" y="1176059"/>
            <a:ext cx="571501" cy="5715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175" name="Google Shape;175;p2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145271" y="1176059"/>
            <a:ext cx="571501" cy="571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7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Архитектура iOS-приложения</a:t>
            </a:r>
            <a:endParaRPr b="1"/>
          </a:p>
        </p:txBody>
      </p:sp>
      <p:sp>
        <p:nvSpPr>
          <p:cNvPr id="181" name="Google Shape;181;p27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7"/>
          <p:cNvSpPr txBox="1"/>
          <p:nvPr/>
        </p:nvSpPr>
        <p:spPr>
          <a:xfrm>
            <a:off x="5074920" y="1005839"/>
            <a:ext cx="3840600" cy="51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Паттерн Coordinator</a:t>
            </a:r>
            <a:endParaRPr sz="1600"/>
          </a:p>
          <a:p>
            <a:pPr indent="-240631" lvl="0" marL="24063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Единый стек навигации</a:t>
            </a:r>
            <a:endParaRPr sz="1600"/>
          </a:p>
          <a:p>
            <a:pPr indent="-240631" lvl="0" marL="24063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Отдельные стеки для каждого таба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Архитектурный паттерн MVVM</a:t>
            </a:r>
            <a:endParaRPr sz="1600"/>
          </a:p>
          <a:p>
            <a:pPr indent="-240631" lvl="0" marL="24063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ViewModel как extension к View</a:t>
            </a:r>
            <a:endParaRPr sz="1600"/>
          </a:p>
          <a:p>
            <a:pPr indent="-240631" lvl="0" marL="24063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Бизнес-логика в сервисах (на основе инверсии зависимостей)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Паттерн Наблюдатель (Observer)                                                                                            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Реализован через @Observable                                                                                          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Сервисы и ViewModel — наблюдаемые объекты 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Dependency Injection</a:t>
            </a:r>
            <a:endParaRPr sz="1600"/>
          </a:p>
          <a:p>
            <a:pPr indent="-240631" lvl="0" marL="24063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ScreenFactoryImpl - единый DI-контейнер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</a:rPr>
              <a:t>Без внешних зависимостей</a:t>
            </a:r>
            <a:endParaRPr sz="1600"/>
          </a:p>
          <a:p>
            <a:pPr indent="-240631" lvl="0" marL="24063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111111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111111"/>
                </a:solidFill>
              </a:rPr>
              <a:t>Только Apple frameworks</a:t>
            </a:r>
            <a:endParaRPr sz="1600"/>
          </a:p>
        </p:txBody>
      </p:sp>
      <p:sp>
        <p:nvSpPr>
          <p:cNvPr id="183" name="Google Shape;183;p27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187" name="Google Shape;187;p27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188" name="Google Shape;188;p27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Изображение" id="189" name="Google Shape;189;p27"/>
          <p:cNvPicPr preferRelativeResize="0"/>
          <p:nvPr/>
        </p:nvPicPr>
        <p:blipFill rotWithShape="1">
          <a:blip r:embed="rId3">
            <a:alphaModFix/>
          </a:blip>
          <a:srcRect b="10803" l="12675" r="16439" t="5452"/>
          <a:stretch/>
        </p:blipFill>
        <p:spPr>
          <a:xfrm>
            <a:off x="245725" y="1086100"/>
            <a:ext cx="4648100" cy="536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8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Архитектура Backend и LLM-сервиса</a:t>
            </a:r>
            <a:endParaRPr b="1"/>
          </a:p>
        </p:txBody>
      </p:sp>
      <p:sp>
        <p:nvSpPr>
          <p:cNvPr id="195" name="Google Shape;195;p28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502920" y="1005839"/>
            <a:ext cx="37491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</a:rPr>
              <a:t>Spring Boot Backend</a:t>
            </a:r>
            <a:endParaRPr/>
          </a:p>
        </p:txBody>
      </p:sp>
      <p:sp>
        <p:nvSpPr>
          <p:cNvPr id="197" name="Google Shape;197;p28"/>
          <p:cNvSpPr txBox="1"/>
          <p:nvPr/>
        </p:nvSpPr>
        <p:spPr>
          <a:xfrm>
            <a:off x="502920" y="1463039"/>
            <a:ext cx="3749100" cy="27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Трёхслойная архитектура: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Controller → Service → Repository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Аутентификация: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JWT (access + refresh токены)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Spring Security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База данных: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PostgreSQL 13+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JPA (Java Persistence API)</a:t>
            </a:r>
            <a:endParaRPr sz="1600"/>
          </a:p>
        </p:txBody>
      </p:sp>
      <p:sp>
        <p:nvSpPr>
          <p:cNvPr id="198" name="Google Shape;198;p28"/>
          <p:cNvSpPr/>
          <p:nvPr/>
        </p:nvSpPr>
        <p:spPr>
          <a:xfrm>
            <a:off x="4556759" y="1005839"/>
            <a:ext cx="21900" cy="50292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8"/>
          <p:cNvSpPr txBox="1"/>
          <p:nvPr/>
        </p:nvSpPr>
        <p:spPr>
          <a:xfrm>
            <a:off x="4709160" y="1005839"/>
            <a:ext cx="4114800" cy="3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</a:rPr>
              <a:t>LLM Service (FastAPI)</a:t>
            </a:r>
            <a:endParaRPr/>
          </a:p>
        </p:txBody>
      </p:sp>
      <p:sp>
        <p:nvSpPr>
          <p:cNvPr id="200" name="Google Shape;200;p28"/>
          <p:cNvSpPr txBox="1"/>
          <p:nvPr/>
        </p:nvSpPr>
        <p:spPr>
          <a:xfrm>
            <a:off x="4709160" y="1463039"/>
            <a:ext cx="4114800" cy="38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REST API слой: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FastAPI, эндпоинты /chat, /health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RAG слой: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Векторный поиск по Корану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Sentence Transformers (эмбеддинги)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LLM интеграция: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OpenRouter API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Поддержка кастомных моделей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Данные: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6236 аятов Корана с переводами</a:t>
            </a:r>
            <a:endParaRPr sz="1600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  Предобработанные эмбеддинги</a:t>
            </a:r>
            <a:endParaRPr sz="1600"/>
          </a:p>
        </p:txBody>
      </p:sp>
      <p:sp>
        <p:nvSpPr>
          <p:cNvPr id="201" name="Google Shape;201;p28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8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8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8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205" name="Google Shape;205;p28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206" name="Google Shape;206;p28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 / 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pic>
        <p:nvPicPr>
          <p:cNvPr descr="Изображение" id="207" name="Google Shape;20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04" y="4369447"/>
            <a:ext cx="2177845" cy="18043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208" name="Google Shape;208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41247" y="4369450"/>
            <a:ext cx="2239302" cy="178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9"/>
          <p:cNvSpPr txBox="1"/>
          <p:nvPr/>
        </p:nvSpPr>
        <p:spPr>
          <a:xfrm>
            <a:off x="502926" y="256025"/>
            <a:ext cx="89469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Модуль анализа халяльности продуктов</a:t>
            </a:r>
            <a:endParaRPr b="1"/>
          </a:p>
        </p:txBody>
      </p:sp>
      <p:sp>
        <p:nvSpPr>
          <p:cNvPr id="214" name="Google Shape;214;p29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9"/>
          <p:cNvSpPr/>
          <p:nvPr/>
        </p:nvSpPr>
        <p:spPr>
          <a:xfrm>
            <a:off x="518101" y="1027625"/>
            <a:ext cx="1671300" cy="1463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9"/>
          <p:cNvSpPr txBox="1"/>
          <p:nvPr/>
        </p:nvSpPr>
        <p:spPr>
          <a:xfrm>
            <a:off x="524950" y="1299775"/>
            <a:ext cx="167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Фото состава (камера / галерея)</a:t>
            </a:r>
            <a:endParaRPr sz="1600"/>
          </a:p>
        </p:txBody>
      </p:sp>
      <p:sp>
        <p:nvSpPr>
          <p:cNvPr id="217" name="Google Shape;217;p29"/>
          <p:cNvSpPr/>
          <p:nvPr/>
        </p:nvSpPr>
        <p:spPr>
          <a:xfrm>
            <a:off x="3717775" y="1027625"/>
            <a:ext cx="1671300" cy="1463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9"/>
          <p:cNvSpPr txBox="1"/>
          <p:nvPr/>
        </p:nvSpPr>
        <p:spPr>
          <a:xfrm>
            <a:off x="3714850" y="1299775"/>
            <a:ext cx="16713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OCR (распознавание текста)</a:t>
            </a:r>
            <a:endParaRPr sz="1600"/>
          </a:p>
        </p:txBody>
      </p:sp>
      <p:sp>
        <p:nvSpPr>
          <p:cNvPr id="219" name="Google Shape;219;p29"/>
          <p:cNvSpPr/>
          <p:nvPr/>
        </p:nvSpPr>
        <p:spPr>
          <a:xfrm>
            <a:off x="6986800" y="1027625"/>
            <a:ext cx="1671300" cy="1463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9"/>
          <p:cNvSpPr txBox="1"/>
          <p:nvPr/>
        </p:nvSpPr>
        <p:spPr>
          <a:xfrm>
            <a:off x="6986800" y="1466675"/>
            <a:ext cx="167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Извлечение ингредиентов</a:t>
            </a:r>
            <a:endParaRPr sz="1600"/>
          </a:p>
        </p:txBody>
      </p:sp>
      <p:sp>
        <p:nvSpPr>
          <p:cNvPr id="221" name="Google Shape;221;p29"/>
          <p:cNvSpPr/>
          <p:nvPr/>
        </p:nvSpPr>
        <p:spPr>
          <a:xfrm>
            <a:off x="6986799" y="2874813"/>
            <a:ext cx="1671300" cy="1463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9"/>
          <p:cNvSpPr txBox="1"/>
          <p:nvPr/>
        </p:nvSpPr>
        <p:spPr>
          <a:xfrm>
            <a:off x="6986800" y="3337875"/>
            <a:ext cx="1671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Классификация по базе данных</a:t>
            </a:r>
            <a:endParaRPr sz="1600"/>
          </a:p>
        </p:txBody>
      </p:sp>
      <p:sp>
        <p:nvSpPr>
          <p:cNvPr id="223" name="Google Shape;223;p29"/>
          <p:cNvSpPr/>
          <p:nvPr/>
        </p:nvSpPr>
        <p:spPr>
          <a:xfrm>
            <a:off x="6986800" y="4722025"/>
            <a:ext cx="1671300" cy="1463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9"/>
          <p:cNvSpPr txBox="1"/>
          <p:nvPr/>
        </p:nvSpPr>
        <p:spPr>
          <a:xfrm>
            <a:off x="7014550" y="5038075"/>
            <a:ext cx="16158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Результат: халяль / харам /сомнительный</a:t>
            </a:r>
            <a:endParaRPr sz="1600"/>
          </a:p>
        </p:txBody>
      </p:sp>
      <p:sp>
        <p:nvSpPr>
          <p:cNvPr id="225" name="Google Shape;225;p29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9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229" name="Google Shape;229;p29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230" name="Google Shape;230;p29"/>
          <p:cNvSpPr txBox="1"/>
          <p:nvPr/>
        </p:nvSpPr>
        <p:spPr>
          <a:xfrm>
            <a:off x="8480519" y="6452999"/>
            <a:ext cx="373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9 / 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cxnSp>
        <p:nvCxnSpPr>
          <p:cNvPr id="231" name="Google Shape;231;p29"/>
          <p:cNvCxnSpPr>
            <a:stCxn id="216" idx="3"/>
            <a:endCxn id="218" idx="1"/>
          </p:cNvCxnSpPr>
          <p:nvPr/>
        </p:nvCxnSpPr>
        <p:spPr>
          <a:xfrm>
            <a:off x="2196250" y="1715275"/>
            <a:ext cx="15186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2" name="Google Shape;232;p29"/>
          <p:cNvCxnSpPr>
            <a:endCxn id="220" idx="1"/>
          </p:cNvCxnSpPr>
          <p:nvPr/>
        </p:nvCxnSpPr>
        <p:spPr>
          <a:xfrm>
            <a:off x="5392000" y="1759175"/>
            <a:ext cx="15948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3" name="Google Shape;233;p29"/>
          <p:cNvCxnSpPr/>
          <p:nvPr/>
        </p:nvCxnSpPr>
        <p:spPr>
          <a:xfrm>
            <a:off x="7822446" y="2493892"/>
            <a:ext cx="14100" cy="3945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34" name="Google Shape;234;p29"/>
          <p:cNvCxnSpPr/>
          <p:nvPr/>
        </p:nvCxnSpPr>
        <p:spPr>
          <a:xfrm>
            <a:off x="7815396" y="4357804"/>
            <a:ext cx="14100" cy="3945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pic>
        <p:nvPicPr>
          <p:cNvPr id="235" name="Google Shape;235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131" y="2888400"/>
            <a:ext cx="2868194" cy="1449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7413" y="2949425"/>
            <a:ext cx="2979588" cy="1345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43551" y="4686154"/>
            <a:ext cx="3234614" cy="155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0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Демонстрация приложения</a:t>
            </a:r>
            <a:endParaRPr b="1"/>
          </a:p>
        </p:txBody>
      </p:sp>
      <p:sp>
        <p:nvSpPr>
          <p:cNvPr id="243" name="Google Shape;243;p30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0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0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0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247" name="Google Shape;247;p30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248" name="Google Shape;248;p30"/>
          <p:cNvSpPr txBox="1"/>
          <p:nvPr/>
        </p:nvSpPr>
        <p:spPr>
          <a:xfrm>
            <a:off x="8422587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Изображение" id="249" name="Google Shape;24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1042" y="1586800"/>
            <a:ext cx="5740401" cy="41529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250" name="Google Shape;250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2401" y="1586800"/>
            <a:ext cx="1915735" cy="4152901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0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31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Модуль AI-чата с RAG-пайплайном</a:t>
            </a:r>
            <a:endParaRPr b="1"/>
          </a:p>
        </p:txBody>
      </p:sp>
      <p:sp>
        <p:nvSpPr>
          <p:cNvPr id="257" name="Google Shape;257;p31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31"/>
          <p:cNvSpPr/>
          <p:nvPr/>
        </p:nvSpPr>
        <p:spPr>
          <a:xfrm>
            <a:off x="988467" y="970814"/>
            <a:ext cx="1326000" cy="1280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1"/>
          <p:cNvSpPr txBox="1"/>
          <p:nvPr/>
        </p:nvSpPr>
        <p:spPr>
          <a:xfrm>
            <a:off x="1034186" y="1402457"/>
            <a:ext cx="1234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000000"/>
                </a:solidFill>
              </a:rPr>
              <a:t>Вопрос пользователя</a:t>
            </a:r>
            <a:endParaRPr sz="1500"/>
          </a:p>
        </p:txBody>
      </p:sp>
      <p:sp>
        <p:nvSpPr>
          <p:cNvPr id="260" name="Google Shape;260;p31"/>
          <p:cNvSpPr/>
          <p:nvPr/>
        </p:nvSpPr>
        <p:spPr>
          <a:xfrm>
            <a:off x="2936145" y="973314"/>
            <a:ext cx="1326000" cy="1280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1"/>
          <p:cNvSpPr txBox="1"/>
          <p:nvPr/>
        </p:nvSpPr>
        <p:spPr>
          <a:xfrm>
            <a:off x="2981865" y="1404957"/>
            <a:ext cx="1234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000000"/>
                </a:solidFill>
              </a:rPr>
              <a:t>Эмбеддинг запроса</a:t>
            </a:r>
            <a:endParaRPr sz="1500"/>
          </a:p>
        </p:txBody>
      </p:sp>
      <p:sp>
        <p:nvSpPr>
          <p:cNvPr id="262" name="Google Shape;262;p31"/>
          <p:cNvSpPr/>
          <p:nvPr/>
        </p:nvSpPr>
        <p:spPr>
          <a:xfrm>
            <a:off x="4873848" y="973314"/>
            <a:ext cx="1326000" cy="1280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1"/>
          <p:cNvSpPr txBox="1"/>
          <p:nvPr/>
        </p:nvSpPr>
        <p:spPr>
          <a:xfrm>
            <a:off x="4919568" y="1404957"/>
            <a:ext cx="12345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000000"/>
                </a:solidFill>
              </a:rPr>
              <a:t>Векторный поиск (Коран)</a:t>
            </a:r>
            <a:endParaRPr sz="1500"/>
          </a:p>
        </p:txBody>
      </p:sp>
      <p:sp>
        <p:nvSpPr>
          <p:cNvPr id="264" name="Google Shape;264;p31"/>
          <p:cNvSpPr/>
          <p:nvPr/>
        </p:nvSpPr>
        <p:spPr>
          <a:xfrm>
            <a:off x="6829427" y="973314"/>
            <a:ext cx="1326000" cy="1280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1"/>
          <p:cNvSpPr txBox="1"/>
          <p:nvPr/>
        </p:nvSpPr>
        <p:spPr>
          <a:xfrm>
            <a:off x="6811538" y="1404950"/>
            <a:ext cx="1344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000000"/>
                </a:solidFill>
              </a:rPr>
              <a:t>Формирование промпта</a:t>
            </a:r>
            <a:endParaRPr sz="1500"/>
          </a:p>
        </p:txBody>
      </p:sp>
      <p:sp>
        <p:nvSpPr>
          <p:cNvPr id="266" name="Google Shape;266;p31"/>
          <p:cNvSpPr/>
          <p:nvPr/>
        </p:nvSpPr>
        <p:spPr>
          <a:xfrm>
            <a:off x="6833879" y="2847252"/>
            <a:ext cx="1326000" cy="1280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1"/>
          <p:cNvSpPr txBox="1"/>
          <p:nvPr/>
        </p:nvSpPr>
        <p:spPr>
          <a:xfrm>
            <a:off x="6879599" y="3372157"/>
            <a:ext cx="1234500" cy="28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000000"/>
                </a:solidFill>
              </a:rPr>
              <a:t>Запрос в LLM</a:t>
            </a:r>
            <a:endParaRPr sz="1500"/>
          </a:p>
        </p:txBody>
      </p:sp>
      <p:sp>
        <p:nvSpPr>
          <p:cNvPr id="268" name="Google Shape;268;p31"/>
          <p:cNvSpPr/>
          <p:nvPr/>
        </p:nvSpPr>
        <p:spPr>
          <a:xfrm>
            <a:off x="6833869" y="4721164"/>
            <a:ext cx="1326000" cy="1280100"/>
          </a:xfrm>
          <a:prstGeom prst="rect">
            <a:avLst/>
          </a:prstGeom>
          <a:solidFill>
            <a:srgbClr val="C8D6C6"/>
          </a:solidFill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1"/>
          <p:cNvSpPr txBox="1"/>
          <p:nvPr/>
        </p:nvSpPr>
        <p:spPr>
          <a:xfrm>
            <a:off x="6833876" y="5098175"/>
            <a:ext cx="1326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i="0" lang="en-US" u="none" cap="none" strike="noStrike">
                <a:solidFill>
                  <a:srgbClr val="000000"/>
                </a:solidFill>
              </a:rPr>
              <a:t>Ответ пользователю</a:t>
            </a:r>
            <a:endParaRPr sz="1500"/>
          </a:p>
        </p:txBody>
      </p:sp>
      <p:sp>
        <p:nvSpPr>
          <p:cNvPr id="270" name="Google Shape;270;p31"/>
          <p:cNvSpPr txBox="1"/>
          <p:nvPr/>
        </p:nvSpPr>
        <p:spPr>
          <a:xfrm>
            <a:off x="988475" y="2839025"/>
            <a:ext cx="53742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</a:rPr>
              <a:t>Ключевые технические решения:</a:t>
            </a:r>
            <a:endParaRPr b="1"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Корпус: 6236 аятов Корана</a:t>
            </a:r>
            <a:endParaRPr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Модель эмбеддингов: multilingual sentence-transformers</a:t>
            </a:r>
            <a:endParaRPr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lang="en-US" sz="1600"/>
              <a:t>Сегментация</a:t>
            </a:r>
            <a:r>
              <a:rPr i="0" lang="en-US" sz="1600" u="none" cap="none" strike="noStrike">
                <a:solidFill>
                  <a:srgbClr val="000000"/>
                </a:solidFill>
              </a:rPr>
              <a:t>: по аятам</a:t>
            </a:r>
            <a:endParaRPr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Top-K retrieval: k=5 наиболее релевантных фрагментов</a:t>
            </a:r>
            <a:endParaRPr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Промпт содержит контекст + исходный вопрос</a:t>
            </a:r>
            <a:endParaRPr/>
          </a:p>
          <a:p>
            <a:pPr indent="-160421" lvl="0" marL="160421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Char char="•"/>
            </a:pPr>
            <a:r>
              <a:rPr i="0" lang="en-US" sz="1600" u="none" cap="none" strike="noStrike">
                <a:solidFill>
                  <a:srgbClr val="000000"/>
                </a:solidFill>
              </a:rPr>
              <a:t>Модель отвечает на основе Корана</a:t>
            </a:r>
            <a:endParaRPr/>
          </a:p>
        </p:txBody>
      </p:sp>
      <p:sp>
        <p:nvSpPr>
          <p:cNvPr id="271" name="Google Shape;271;p31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1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31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1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275" name="Google Shape;275;p31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276" name="Google Shape;276;p31"/>
          <p:cNvSpPr txBox="1"/>
          <p:nvPr/>
        </p:nvSpPr>
        <p:spPr>
          <a:xfrm>
            <a:off x="8422587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cxnSp>
        <p:nvCxnSpPr>
          <p:cNvPr id="277" name="Google Shape;277;p31"/>
          <p:cNvCxnSpPr/>
          <p:nvPr/>
        </p:nvCxnSpPr>
        <p:spPr>
          <a:xfrm>
            <a:off x="2320365" y="1649307"/>
            <a:ext cx="6117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8" name="Google Shape;278;p31"/>
          <p:cNvCxnSpPr/>
          <p:nvPr/>
        </p:nvCxnSpPr>
        <p:spPr>
          <a:xfrm>
            <a:off x="4262140" y="1613382"/>
            <a:ext cx="6117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79" name="Google Shape;279;p31"/>
          <p:cNvCxnSpPr/>
          <p:nvPr/>
        </p:nvCxnSpPr>
        <p:spPr>
          <a:xfrm>
            <a:off x="6199840" y="1642607"/>
            <a:ext cx="611700" cy="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0" name="Google Shape;280;p31"/>
          <p:cNvCxnSpPr>
            <a:stCxn id="264" idx="2"/>
            <a:endCxn id="266" idx="0"/>
          </p:cNvCxnSpPr>
          <p:nvPr/>
        </p:nvCxnSpPr>
        <p:spPr>
          <a:xfrm>
            <a:off x="7492427" y="2253414"/>
            <a:ext cx="4500" cy="593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281" name="Google Shape;281;p31"/>
          <p:cNvCxnSpPr/>
          <p:nvPr/>
        </p:nvCxnSpPr>
        <p:spPr>
          <a:xfrm>
            <a:off x="7494627" y="4127339"/>
            <a:ext cx="4500" cy="593700"/>
          </a:xfrm>
          <a:prstGeom prst="straightConnector1">
            <a:avLst/>
          </a:prstGeom>
          <a:noFill/>
          <a:ln cap="flat" cmpd="sng" w="25400">
            <a:solidFill>
              <a:srgbClr val="000000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2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Демонстрация приложения</a:t>
            </a:r>
            <a:endParaRPr b="1"/>
          </a:p>
        </p:txBody>
      </p:sp>
      <p:sp>
        <p:nvSpPr>
          <p:cNvPr id="287" name="Google Shape;287;p32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2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2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2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291" name="Google Shape;291;p32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292" name="Google Shape;292;p32"/>
          <p:cNvSpPr txBox="1"/>
          <p:nvPr/>
        </p:nvSpPr>
        <p:spPr>
          <a:xfrm>
            <a:off x="8422587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Изображение" id="293" name="Google Shape;29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3577" y="1112812"/>
            <a:ext cx="6696798" cy="5018899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32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3"/>
          <p:cNvSpPr txBox="1"/>
          <p:nvPr/>
        </p:nvSpPr>
        <p:spPr>
          <a:xfrm>
            <a:off x="502918" y="256030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Подбор параметров RAG-пайплайна</a:t>
            </a:r>
            <a:endParaRPr/>
          </a:p>
        </p:txBody>
      </p:sp>
      <p:sp>
        <p:nvSpPr>
          <p:cNvPr id="300" name="Google Shape;300;p33"/>
          <p:cNvSpPr/>
          <p:nvPr/>
        </p:nvSpPr>
        <p:spPr>
          <a:xfrm>
            <a:off x="457200" y="868680"/>
            <a:ext cx="82296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3"/>
          <p:cNvSpPr/>
          <p:nvPr/>
        </p:nvSpPr>
        <p:spPr>
          <a:xfrm>
            <a:off x="0" y="6692999"/>
            <a:ext cx="3048000" cy="1449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3"/>
          <p:cNvSpPr/>
          <p:nvPr/>
        </p:nvSpPr>
        <p:spPr>
          <a:xfrm>
            <a:off x="3048000" y="6692999"/>
            <a:ext cx="3048000" cy="144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3"/>
          <p:cNvSpPr/>
          <p:nvPr/>
        </p:nvSpPr>
        <p:spPr>
          <a:xfrm>
            <a:off x="6096000" y="6692999"/>
            <a:ext cx="3048000" cy="14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3"/>
          <p:cNvSpPr txBox="1"/>
          <p:nvPr/>
        </p:nvSpPr>
        <p:spPr>
          <a:xfrm>
            <a:off x="245718" y="6452999"/>
            <a:ext cx="161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305" name="Google Shape;305;p33"/>
          <p:cNvSpPr txBox="1"/>
          <p:nvPr/>
        </p:nvSpPr>
        <p:spPr>
          <a:xfrm>
            <a:off x="2737405" y="6452999"/>
            <a:ext cx="362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306" name="Google Shape;306;p33"/>
          <p:cNvSpPr txBox="1"/>
          <p:nvPr/>
        </p:nvSpPr>
        <p:spPr>
          <a:xfrm>
            <a:off x="8422586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13 / 22</a:t>
            </a:r>
            <a:endParaRPr/>
          </a:p>
        </p:txBody>
      </p:sp>
      <p:sp>
        <p:nvSpPr>
          <p:cNvPr id="307" name="Google Shape;307;p33"/>
          <p:cNvSpPr txBox="1"/>
          <p:nvPr/>
        </p:nvSpPr>
        <p:spPr>
          <a:xfrm>
            <a:off x="502919" y="949999"/>
            <a:ext cx="39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Конфигурации тестирования</a:t>
            </a:r>
            <a:endParaRPr sz="1600"/>
          </a:p>
        </p:txBody>
      </p:sp>
      <p:sp>
        <p:nvSpPr>
          <p:cNvPr id="308" name="Google Shape;308;p33"/>
          <p:cNvSpPr txBox="1"/>
          <p:nvPr/>
        </p:nvSpPr>
        <p:spPr>
          <a:xfrm>
            <a:off x="502919" y="1239999"/>
            <a:ext cx="4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sz="1600"/>
          </a:p>
        </p:txBody>
      </p:sp>
      <p:sp>
        <p:nvSpPr>
          <p:cNvPr id="309" name="Google Shape;309;p33"/>
          <p:cNvSpPr txBox="1"/>
          <p:nvPr/>
        </p:nvSpPr>
        <p:spPr>
          <a:xfrm>
            <a:off x="1032919" y="1239999"/>
            <a:ext cx="33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Без RAG  (базовый сценарий)</a:t>
            </a:r>
            <a:endParaRPr sz="1600"/>
          </a:p>
        </p:txBody>
      </p:sp>
      <p:sp>
        <p:nvSpPr>
          <p:cNvPr id="310" name="Google Shape;310;p33"/>
          <p:cNvSpPr txBox="1"/>
          <p:nvPr/>
        </p:nvSpPr>
        <p:spPr>
          <a:xfrm>
            <a:off x="502919" y="1609999"/>
            <a:ext cx="4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1600"/>
          </a:p>
        </p:txBody>
      </p:sp>
      <p:sp>
        <p:nvSpPr>
          <p:cNvPr id="311" name="Google Shape;311;p33"/>
          <p:cNvSpPr txBox="1"/>
          <p:nvPr/>
        </p:nvSpPr>
        <p:spPr>
          <a:xfrm>
            <a:off x="1032919" y="1609999"/>
            <a:ext cx="33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RAG + mpnet-base-v2  (Base)</a:t>
            </a:r>
            <a:endParaRPr sz="1600"/>
          </a:p>
        </p:txBody>
      </p:sp>
      <p:sp>
        <p:nvSpPr>
          <p:cNvPr id="312" name="Google Shape;312;p33"/>
          <p:cNvSpPr txBox="1"/>
          <p:nvPr/>
        </p:nvSpPr>
        <p:spPr>
          <a:xfrm>
            <a:off x="502919" y="1980000"/>
            <a:ext cx="4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1600"/>
          </a:p>
        </p:txBody>
      </p:sp>
      <p:sp>
        <p:nvSpPr>
          <p:cNvPr id="313" name="Google Shape;313;p33"/>
          <p:cNvSpPr txBox="1"/>
          <p:nvPr/>
        </p:nvSpPr>
        <p:spPr>
          <a:xfrm>
            <a:off x="1032919" y="1980000"/>
            <a:ext cx="337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RAG + mpnet-base-v2  (Fine-tuned) </a:t>
            </a:r>
            <a:endParaRPr sz="1600"/>
          </a:p>
        </p:txBody>
      </p:sp>
      <p:sp>
        <p:nvSpPr>
          <p:cNvPr id="314" name="Google Shape;314;p33"/>
          <p:cNvSpPr txBox="1"/>
          <p:nvPr/>
        </p:nvSpPr>
        <p:spPr>
          <a:xfrm>
            <a:off x="502969" y="2541862"/>
            <a:ext cx="4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C4</a:t>
            </a:r>
            <a:endParaRPr sz="1600"/>
          </a:p>
        </p:txBody>
      </p:sp>
      <p:sp>
        <p:nvSpPr>
          <p:cNvPr id="315" name="Google Shape;315;p33"/>
          <p:cNvSpPr txBox="1"/>
          <p:nvPr/>
        </p:nvSpPr>
        <p:spPr>
          <a:xfrm>
            <a:off x="1032969" y="2562747"/>
            <a:ext cx="337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RAG + sbert_large_nlu_ru  (Base)</a:t>
            </a:r>
            <a:endParaRPr sz="1600"/>
          </a:p>
        </p:txBody>
      </p:sp>
      <p:sp>
        <p:nvSpPr>
          <p:cNvPr id="316" name="Google Shape;316;p33"/>
          <p:cNvSpPr txBox="1"/>
          <p:nvPr/>
        </p:nvSpPr>
        <p:spPr>
          <a:xfrm>
            <a:off x="502969" y="2911863"/>
            <a:ext cx="4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C5</a:t>
            </a:r>
            <a:endParaRPr sz="1600"/>
          </a:p>
        </p:txBody>
      </p:sp>
      <p:sp>
        <p:nvSpPr>
          <p:cNvPr id="317" name="Google Shape;317;p33"/>
          <p:cNvSpPr txBox="1"/>
          <p:nvPr/>
        </p:nvSpPr>
        <p:spPr>
          <a:xfrm>
            <a:off x="1032969" y="2932747"/>
            <a:ext cx="33786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RAG + sbert_large_nlu_ru  (Fine-tuned)</a:t>
            </a:r>
            <a:endParaRPr sz="1600"/>
          </a:p>
        </p:txBody>
      </p:sp>
      <p:sp>
        <p:nvSpPr>
          <p:cNvPr id="318" name="Google Shape;318;p33"/>
          <p:cNvSpPr txBox="1"/>
          <p:nvPr/>
        </p:nvSpPr>
        <p:spPr>
          <a:xfrm>
            <a:off x="245719" y="3781736"/>
            <a:ext cx="3908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7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Метрики оценки (шкала 0–5):</a:t>
            </a:r>
            <a:endParaRPr sz="1700"/>
          </a:p>
        </p:txBody>
      </p:sp>
      <p:sp>
        <p:nvSpPr>
          <p:cNvPr id="319" name="Google Shape;319;p33"/>
          <p:cNvSpPr txBox="1"/>
          <p:nvPr/>
        </p:nvSpPr>
        <p:spPr>
          <a:xfrm>
            <a:off x="245719" y="4061736"/>
            <a:ext cx="39087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A — корректность ответа относительно Корана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G — обоснованность (опора на источники)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C — полнота раскрытия вопроса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H — галлюцинации (0 = нет, 5 = много)</a:t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4444"/>
              </a:buClr>
              <a:buSzPts val="1200"/>
              <a:buFont typeface="Arial"/>
              <a:buNone/>
            </a:pPr>
            <a:r>
              <a:rPr b="0" i="0" lang="en-US" sz="1700" u="none" cap="none" strike="noStrike">
                <a:solidFill>
                  <a:srgbClr val="444444"/>
                </a:solidFill>
                <a:latin typeface="Arial"/>
                <a:ea typeface="Arial"/>
                <a:cs typeface="Arial"/>
                <a:sym typeface="Arial"/>
              </a:rPr>
              <a:t>R/T — релевантность и точность retrieval</a:t>
            </a:r>
            <a:endParaRPr sz="1700"/>
          </a:p>
        </p:txBody>
      </p:sp>
      <p:sp>
        <p:nvSpPr>
          <p:cNvPr id="320" name="Google Shape;320;p33"/>
          <p:cNvSpPr txBox="1"/>
          <p:nvPr/>
        </p:nvSpPr>
        <p:spPr>
          <a:xfrm>
            <a:off x="4845720" y="949999"/>
            <a:ext cx="39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5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Результаты (Final Score)</a:t>
            </a:r>
            <a:endParaRPr sz="1600"/>
          </a:p>
        </p:txBody>
      </p:sp>
      <p:sp>
        <p:nvSpPr>
          <p:cNvPr id="321" name="Google Shape;321;p33"/>
          <p:cNvSpPr txBox="1"/>
          <p:nvPr/>
        </p:nvSpPr>
        <p:spPr>
          <a:xfrm>
            <a:off x="4845720" y="1239999"/>
            <a:ext cx="65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Конф.</a:t>
            </a:r>
            <a:endParaRPr sz="1600"/>
          </a:p>
        </p:txBody>
      </p:sp>
      <p:sp>
        <p:nvSpPr>
          <p:cNvPr id="322" name="Google Shape;322;p33"/>
          <p:cNvSpPr txBox="1"/>
          <p:nvPr/>
        </p:nvSpPr>
        <p:spPr>
          <a:xfrm>
            <a:off x="5645720" y="1239999"/>
            <a:ext cx="9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Retrieval</a:t>
            </a:r>
            <a:endParaRPr sz="1600"/>
          </a:p>
        </p:txBody>
      </p:sp>
      <p:sp>
        <p:nvSpPr>
          <p:cNvPr id="323" name="Google Shape;323;p33"/>
          <p:cNvSpPr txBox="1"/>
          <p:nvPr/>
        </p:nvSpPr>
        <p:spPr>
          <a:xfrm>
            <a:off x="6745720" y="1239999"/>
            <a:ext cx="10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 sz="1600"/>
          </a:p>
        </p:txBody>
      </p:sp>
      <p:sp>
        <p:nvSpPr>
          <p:cNvPr id="324" name="Google Shape;324;p33"/>
          <p:cNvSpPr txBox="1"/>
          <p:nvPr/>
        </p:nvSpPr>
        <p:spPr>
          <a:xfrm>
            <a:off x="7945719" y="1239999"/>
            <a:ext cx="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300"/>
              <a:buFont typeface="Arial"/>
              <a:buNone/>
            </a:pPr>
            <a:r>
              <a:rPr b="1" i="0" lang="en-US" sz="1600" u="none" cap="none" strike="noStrike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sz="1600"/>
          </a:p>
        </p:txBody>
      </p:sp>
      <p:sp>
        <p:nvSpPr>
          <p:cNvPr id="325" name="Google Shape;325;p33"/>
          <p:cNvSpPr txBox="1"/>
          <p:nvPr/>
        </p:nvSpPr>
        <p:spPr>
          <a:xfrm>
            <a:off x="4845720" y="1519999"/>
            <a:ext cx="6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C1</a:t>
            </a:r>
            <a:endParaRPr sz="1600"/>
          </a:p>
        </p:txBody>
      </p:sp>
      <p:sp>
        <p:nvSpPr>
          <p:cNvPr id="326" name="Google Shape;326;p33"/>
          <p:cNvSpPr txBox="1"/>
          <p:nvPr/>
        </p:nvSpPr>
        <p:spPr>
          <a:xfrm>
            <a:off x="5645720" y="1519999"/>
            <a:ext cx="9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600"/>
          </a:p>
        </p:txBody>
      </p:sp>
      <p:sp>
        <p:nvSpPr>
          <p:cNvPr id="327" name="Google Shape;327;p33"/>
          <p:cNvSpPr txBox="1"/>
          <p:nvPr/>
        </p:nvSpPr>
        <p:spPr>
          <a:xfrm>
            <a:off x="6745720" y="1519999"/>
            <a:ext cx="10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2.8</a:t>
            </a:r>
            <a:endParaRPr sz="1600"/>
          </a:p>
        </p:txBody>
      </p:sp>
      <p:sp>
        <p:nvSpPr>
          <p:cNvPr id="328" name="Google Shape;328;p33"/>
          <p:cNvSpPr txBox="1"/>
          <p:nvPr/>
        </p:nvSpPr>
        <p:spPr>
          <a:xfrm>
            <a:off x="7945719" y="1519999"/>
            <a:ext cx="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2.8</a:t>
            </a:r>
            <a:endParaRPr sz="1600"/>
          </a:p>
        </p:txBody>
      </p:sp>
      <p:sp>
        <p:nvSpPr>
          <p:cNvPr id="329" name="Google Shape;329;p33"/>
          <p:cNvSpPr txBox="1"/>
          <p:nvPr/>
        </p:nvSpPr>
        <p:spPr>
          <a:xfrm>
            <a:off x="4845720" y="1860000"/>
            <a:ext cx="6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C2</a:t>
            </a:r>
            <a:endParaRPr sz="1600"/>
          </a:p>
        </p:txBody>
      </p:sp>
      <p:sp>
        <p:nvSpPr>
          <p:cNvPr id="330" name="Google Shape;330;p33"/>
          <p:cNvSpPr txBox="1"/>
          <p:nvPr/>
        </p:nvSpPr>
        <p:spPr>
          <a:xfrm>
            <a:off x="5645720" y="1860000"/>
            <a:ext cx="9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3.0</a:t>
            </a:r>
            <a:endParaRPr sz="1600"/>
          </a:p>
        </p:txBody>
      </p:sp>
      <p:sp>
        <p:nvSpPr>
          <p:cNvPr id="331" name="Google Shape;331;p33"/>
          <p:cNvSpPr txBox="1"/>
          <p:nvPr/>
        </p:nvSpPr>
        <p:spPr>
          <a:xfrm>
            <a:off x="6745720" y="1860000"/>
            <a:ext cx="10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3.2</a:t>
            </a:r>
            <a:endParaRPr sz="1600"/>
          </a:p>
        </p:txBody>
      </p:sp>
      <p:sp>
        <p:nvSpPr>
          <p:cNvPr id="332" name="Google Shape;332;p33"/>
          <p:cNvSpPr txBox="1"/>
          <p:nvPr/>
        </p:nvSpPr>
        <p:spPr>
          <a:xfrm>
            <a:off x="7945719" y="1860000"/>
            <a:ext cx="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3.12</a:t>
            </a:r>
            <a:endParaRPr sz="1600"/>
          </a:p>
        </p:txBody>
      </p:sp>
      <p:sp>
        <p:nvSpPr>
          <p:cNvPr id="333" name="Google Shape;333;p33"/>
          <p:cNvSpPr txBox="1"/>
          <p:nvPr/>
        </p:nvSpPr>
        <p:spPr>
          <a:xfrm>
            <a:off x="4845720" y="2200000"/>
            <a:ext cx="6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C3</a:t>
            </a:r>
            <a:endParaRPr sz="1600"/>
          </a:p>
        </p:txBody>
      </p:sp>
      <p:sp>
        <p:nvSpPr>
          <p:cNvPr id="334" name="Google Shape;334;p33"/>
          <p:cNvSpPr txBox="1"/>
          <p:nvPr/>
        </p:nvSpPr>
        <p:spPr>
          <a:xfrm>
            <a:off x="5645720" y="2200000"/>
            <a:ext cx="9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3.4</a:t>
            </a:r>
            <a:endParaRPr sz="1600"/>
          </a:p>
        </p:txBody>
      </p:sp>
      <p:sp>
        <p:nvSpPr>
          <p:cNvPr id="335" name="Google Shape;335;p33"/>
          <p:cNvSpPr txBox="1"/>
          <p:nvPr/>
        </p:nvSpPr>
        <p:spPr>
          <a:xfrm>
            <a:off x="6745720" y="2200000"/>
            <a:ext cx="10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4.0</a:t>
            </a:r>
            <a:endParaRPr sz="1600"/>
          </a:p>
        </p:txBody>
      </p:sp>
      <p:sp>
        <p:nvSpPr>
          <p:cNvPr id="336" name="Google Shape;336;p33"/>
          <p:cNvSpPr txBox="1"/>
          <p:nvPr/>
        </p:nvSpPr>
        <p:spPr>
          <a:xfrm>
            <a:off x="7945719" y="2200000"/>
            <a:ext cx="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3.76</a:t>
            </a:r>
            <a:endParaRPr sz="1600"/>
          </a:p>
        </p:txBody>
      </p:sp>
      <p:sp>
        <p:nvSpPr>
          <p:cNvPr id="337" name="Google Shape;337;p33"/>
          <p:cNvSpPr txBox="1"/>
          <p:nvPr/>
        </p:nvSpPr>
        <p:spPr>
          <a:xfrm>
            <a:off x="4845720" y="2539999"/>
            <a:ext cx="6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C4</a:t>
            </a:r>
            <a:endParaRPr sz="1600"/>
          </a:p>
        </p:txBody>
      </p:sp>
      <p:sp>
        <p:nvSpPr>
          <p:cNvPr id="338" name="Google Shape;338;p33"/>
          <p:cNvSpPr txBox="1"/>
          <p:nvPr/>
        </p:nvSpPr>
        <p:spPr>
          <a:xfrm>
            <a:off x="5645720" y="2539999"/>
            <a:ext cx="9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1.0</a:t>
            </a:r>
            <a:endParaRPr sz="1600"/>
          </a:p>
        </p:txBody>
      </p:sp>
      <p:sp>
        <p:nvSpPr>
          <p:cNvPr id="339" name="Google Shape;339;p33"/>
          <p:cNvSpPr txBox="1"/>
          <p:nvPr/>
        </p:nvSpPr>
        <p:spPr>
          <a:xfrm>
            <a:off x="6745720" y="2539999"/>
            <a:ext cx="10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3.0</a:t>
            </a:r>
            <a:endParaRPr sz="1600"/>
          </a:p>
        </p:txBody>
      </p:sp>
      <p:sp>
        <p:nvSpPr>
          <p:cNvPr id="340" name="Google Shape;340;p33"/>
          <p:cNvSpPr txBox="1"/>
          <p:nvPr/>
        </p:nvSpPr>
        <p:spPr>
          <a:xfrm>
            <a:off x="7945719" y="2539999"/>
            <a:ext cx="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2.2</a:t>
            </a:r>
            <a:endParaRPr sz="1600"/>
          </a:p>
        </p:txBody>
      </p:sp>
      <p:sp>
        <p:nvSpPr>
          <p:cNvPr id="341" name="Google Shape;341;p33"/>
          <p:cNvSpPr txBox="1"/>
          <p:nvPr/>
        </p:nvSpPr>
        <p:spPr>
          <a:xfrm>
            <a:off x="4845720" y="2879999"/>
            <a:ext cx="6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C5</a:t>
            </a:r>
            <a:endParaRPr sz="1600"/>
          </a:p>
        </p:txBody>
      </p:sp>
      <p:sp>
        <p:nvSpPr>
          <p:cNvPr id="342" name="Google Shape;342;p33"/>
          <p:cNvSpPr txBox="1"/>
          <p:nvPr/>
        </p:nvSpPr>
        <p:spPr>
          <a:xfrm>
            <a:off x="5645720" y="2879999"/>
            <a:ext cx="95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3.0</a:t>
            </a:r>
            <a:endParaRPr sz="1600"/>
          </a:p>
        </p:txBody>
      </p:sp>
      <p:sp>
        <p:nvSpPr>
          <p:cNvPr id="343" name="Google Shape;343;p33"/>
          <p:cNvSpPr txBox="1"/>
          <p:nvPr/>
        </p:nvSpPr>
        <p:spPr>
          <a:xfrm>
            <a:off x="6745720" y="2879999"/>
            <a:ext cx="105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3.5</a:t>
            </a:r>
            <a:endParaRPr sz="1600"/>
          </a:p>
        </p:txBody>
      </p:sp>
      <p:sp>
        <p:nvSpPr>
          <p:cNvPr id="344" name="Google Shape;344;p33"/>
          <p:cNvSpPr txBox="1"/>
          <p:nvPr/>
        </p:nvSpPr>
        <p:spPr>
          <a:xfrm>
            <a:off x="7945719" y="2879999"/>
            <a:ext cx="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3.3</a:t>
            </a:r>
            <a:endParaRPr sz="1600"/>
          </a:p>
        </p:txBody>
      </p:sp>
      <p:sp>
        <p:nvSpPr>
          <p:cNvPr id="345" name="Google Shape;345;p33"/>
          <p:cNvSpPr txBox="1"/>
          <p:nvPr/>
        </p:nvSpPr>
        <p:spPr>
          <a:xfrm>
            <a:off x="4845720" y="3250000"/>
            <a:ext cx="39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Выбрана: C3 — Final Score 3.76 / 5.0 </a:t>
            </a:r>
            <a:endParaRPr sz="1600"/>
          </a:p>
        </p:txBody>
      </p:sp>
      <p:sp>
        <p:nvSpPr>
          <p:cNvPr id="346" name="Google Shape;346;p33"/>
          <p:cNvSpPr txBox="1"/>
          <p:nvPr/>
        </p:nvSpPr>
        <p:spPr>
          <a:xfrm>
            <a:off x="4411527" y="4171103"/>
            <a:ext cx="4401900" cy="20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RAG повышает качество: C1 (2.8) → C3 (3.76)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Дообучение эмбеддингов улучшает retrieval: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C2 (base) 3.12  →  C3 (fine-tuned) 3.76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mpnet-base-v2 превосходит sbert_large_nlu_ru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в обоих режимах </a:t>
            </a:r>
            <a:r>
              <a:rPr lang="en-US" sz="1600">
                <a:solidFill>
                  <a:srgbClr val="111111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базовом и дообученном</a:t>
            </a:r>
            <a:endParaRPr sz="16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Тестирование iOS-клиента</a:t>
            </a:r>
            <a:endParaRPr b="1"/>
          </a:p>
        </p:txBody>
      </p:sp>
      <p:sp>
        <p:nvSpPr>
          <p:cNvPr id="352" name="Google Shape;352;p34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4"/>
          <p:cNvSpPr txBox="1"/>
          <p:nvPr/>
        </p:nvSpPr>
        <p:spPr>
          <a:xfrm>
            <a:off x="458040" y="992674"/>
            <a:ext cx="210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</a:rPr>
              <a:t>406</a:t>
            </a:r>
            <a:endParaRPr b="1"/>
          </a:p>
        </p:txBody>
      </p:sp>
      <p:sp>
        <p:nvSpPr>
          <p:cNvPr id="354" name="Google Shape;354;p34"/>
          <p:cNvSpPr txBox="1"/>
          <p:nvPr/>
        </p:nvSpPr>
        <p:spPr>
          <a:xfrm>
            <a:off x="458040" y="1638342"/>
            <a:ext cx="210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55555"/>
                </a:solidFill>
              </a:rPr>
              <a:t>тестов iOS</a:t>
            </a:r>
            <a:endParaRPr b="1"/>
          </a:p>
        </p:txBody>
      </p:sp>
      <p:sp>
        <p:nvSpPr>
          <p:cNvPr id="355" name="Google Shape;355;p34"/>
          <p:cNvSpPr txBox="1"/>
          <p:nvPr/>
        </p:nvSpPr>
        <p:spPr>
          <a:xfrm>
            <a:off x="2835479" y="979974"/>
            <a:ext cx="210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</a:rPr>
              <a:t>378</a:t>
            </a:r>
            <a:endParaRPr b="1"/>
          </a:p>
        </p:txBody>
      </p:sp>
      <p:sp>
        <p:nvSpPr>
          <p:cNvPr id="356" name="Google Shape;356;p34"/>
          <p:cNvSpPr txBox="1"/>
          <p:nvPr/>
        </p:nvSpPr>
        <p:spPr>
          <a:xfrm>
            <a:off x="2835479" y="1638342"/>
            <a:ext cx="210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55555"/>
                </a:solidFill>
              </a:rPr>
              <a:t>unit-тестов</a:t>
            </a:r>
            <a:endParaRPr b="1"/>
          </a:p>
        </p:txBody>
      </p:sp>
      <p:sp>
        <p:nvSpPr>
          <p:cNvPr id="357" name="Google Shape;357;p34"/>
          <p:cNvSpPr txBox="1"/>
          <p:nvPr/>
        </p:nvSpPr>
        <p:spPr>
          <a:xfrm>
            <a:off x="5212920" y="979974"/>
            <a:ext cx="210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</a:rPr>
              <a:t>28</a:t>
            </a:r>
            <a:endParaRPr b="1"/>
          </a:p>
        </p:txBody>
      </p:sp>
      <p:sp>
        <p:nvSpPr>
          <p:cNvPr id="358" name="Google Shape;358;p34"/>
          <p:cNvSpPr txBox="1"/>
          <p:nvPr/>
        </p:nvSpPr>
        <p:spPr>
          <a:xfrm>
            <a:off x="5212920" y="1638342"/>
            <a:ext cx="210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55555"/>
                </a:solidFill>
              </a:rPr>
              <a:t>UI-тестов</a:t>
            </a:r>
            <a:endParaRPr b="1"/>
          </a:p>
        </p:txBody>
      </p:sp>
      <p:sp>
        <p:nvSpPr>
          <p:cNvPr id="359" name="Google Shape;359;p34"/>
          <p:cNvSpPr txBox="1"/>
          <p:nvPr/>
        </p:nvSpPr>
        <p:spPr>
          <a:xfrm>
            <a:off x="6858839" y="979974"/>
            <a:ext cx="21030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</a:rPr>
              <a:t>100%</a:t>
            </a:r>
            <a:endParaRPr b="1"/>
          </a:p>
        </p:txBody>
      </p:sp>
      <p:sp>
        <p:nvSpPr>
          <p:cNvPr id="360" name="Google Shape;360;p34"/>
          <p:cNvSpPr txBox="1"/>
          <p:nvPr/>
        </p:nvSpPr>
        <p:spPr>
          <a:xfrm>
            <a:off x="6858839" y="1638342"/>
            <a:ext cx="2103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55555"/>
                </a:solidFill>
              </a:rPr>
              <a:t>пройдено</a:t>
            </a:r>
            <a:endParaRPr b="1"/>
          </a:p>
        </p:txBody>
      </p:sp>
      <p:sp>
        <p:nvSpPr>
          <p:cNvPr id="361" name="Google Shape;361;p34"/>
          <p:cNvSpPr/>
          <p:nvPr/>
        </p:nvSpPr>
        <p:spPr>
          <a:xfrm>
            <a:off x="457200" y="2240279"/>
            <a:ext cx="8229600" cy="2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4"/>
          <p:cNvSpPr txBox="1"/>
          <p:nvPr/>
        </p:nvSpPr>
        <p:spPr>
          <a:xfrm>
            <a:off x="502919" y="2377439"/>
            <a:ext cx="3840481" cy="300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Unit-тесты (Swift Testing)</a:t>
            </a:r>
            <a:endParaRPr/>
          </a:p>
        </p:txBody>
      </p:sp>
      <p:graphicFrame>
        <p:nvGraphicFramePr>
          <p:cNvPr id="363" name="Google Shape;363;p34"/>
          <p:cNvGraphicFramePr/>
          <p:nvPr/>
        </p:nvGraphicFramePr>
        <p:xfrm>
          <a:off x="457200" y="2834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{2EF87AC3-0995-4CF7-9E24-4A9C199C7E75}</a:tableStyleId>
              </a:tblPr>
              <a:tblGrid>
                <a:gridCol w="2011675"/>
                <a:gridCol w="1005850"/>
                <a:gridCol w="914400"/>
              </a:tblGrid>
              <a:tr h="41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Модуль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Тестов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Статус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 (сервис, VM, модели)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124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Chat (сервис, VM, модели)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Prayer / Home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52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Network / Endpoints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Надежность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32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Безопасность / Прочее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4" name="Google Shape;364;p34"/>
          <p:cNvSpPr/>
          <p:nvPr/>
        </p:nvSpPr>
        <p:spPr>
          <a:xfrm>
            <a:off x="4572000" y="2286000"/>
            <a:ext cx="22001" cy="36576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4"/>
          <p:cNvSpPr txBox="1"/>
          <p:nvPr/>
        </p:nvSpPr>
        <p:spPr>
          <a:xfrm>
            <a:off x="4800600" y="2377439"/>
            <a:ext cx="4023360" cy="300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UI-тесты (XCUITest)</a:t>
            </a:r>
            <a:endParaRPr/>
          </a:p>
        </p:txBody>
      </p:sp>
      <p:graphicFrame>
        <p:nvGraphicFramePr>
          <p:cNvPr id="366" name="Google Shape;366;p34"/>
          <p:cNvGraphicFramePr/>
          <p:nvPr/>
        </p:nvGraphicFramePr>
        <p:xfrm>
          <a:off x="4754879" y="28346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{2EF87AC3-0995-4CF7-9E24-4A9C199C7E75}</a:tableStyleId>
              </a:tblPr>
              <a:tblGrid>
                <a:gridCol w="2194550"/>
                <a:gridCol w="1005850"/>
                <a:gridCol w="914400"/>
              </a:tblGrid>
              <a:tr h="4180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Сценарий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Тестов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Статус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Авторизация / Регистрация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Навигация между табами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Чат — отправка сообщений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Сканер — открытие камеры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18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Настройки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18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Производительность запуска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7" name="Google Shape;367;p34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4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245719" y="6452999"/>
            <a:ext cx="270856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371" name="Google Shape;371;p34"/>
          <p:cNvSpPr txBox="1"/>
          <p:nvPr/>
        </p:nvSpPr>
        <p:spPr>
          <a:xfrm>
            <a:off x="2645720" y="6452999"/>
            <a:ext cx="3808560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372" name="Google Shape;372;p34"/>
          <p:cNvSpPr txBox="1"/>
          <p:nvPr/>
        </p:nvSpPr>
        <p:spPr>
          <a:xfrm>
            <a:off x="7945719" y="6452999"/>
            <a:ext cx="90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5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Тестирование </a:t>
            </a:r>
            <a:r>
              <a:rPr b="1" lang="en-US" sz="3200"/>
              <a:t>распознавания</a:t>
            </a:r>
            <a:r>
              <a:rPr b="1" lang="en-US" sz="3200"/>
              <a:t> </a:t>
            </a:r>
            <a:endParaRPr b="1"/>
          </a:p>
        </p:txBody>
      </p:sp>
      <p:sp>
        <p:nvSpPr>
          <p:cNvPr id="378" name="Google Shape;378;p35"/>
          <p:cNvSpPr/>
          <p:nvPr/>
        </p:nvSpPr>
        <p:spPr>
          <a:xfrm>
            <a:off x="457200" y="868680"/>
            <a:ext cx="8229600" cy="24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5"/>
          <p:cNvSpPr/>
          <p:nvPr/>
        </p:nvSpPr>
        <p:spPr>
          <a:xfrm>
            <a:off x="0" y="6692999"/>
            <a:ext cx="3048000" cy="1449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/>
          <p:nvPr/>
        </p:nvSpPr>
        <p:spPr>
          <a:xfrm>
            <a:off x="3048000" y="6692999"/>
            <a:ext cx="3048000" cy="144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5"/>
          <p:cNvSpPr/>
          <p:nvPr/>
        </p:nvSpPr>
        <p:spPr>
          <a:xfrm>
            <a:off x="6096000" y="6692999"/>
            <a:ext cx="3048000" cy="14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5"/>
          <p:cNvSpPr txBox="1"/>
          <p:nvPr/>
        </p:nvSpPr>
        <p:spPr>
          <a:xfrm>
            <a:off x="245719" y="6452999"/>
            <a:ext cx="270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383" name="Google Shape;383;p35"/>
          <p:cNvSpPr txBox="1"/>
          <p:nvPr/>
        </p:nvSpPr>
        <p:spPr>
          <a:xfrm>
            <a:off x="2645720" y="6452999"/>
            <a:ext cx="380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384" name="Google Shape;384;p35"/>
          <p:cNvSpPr txBox="1"/>
          <p:nvPr/>
        </p:nvSpPr>
        <p:spPr>
          <a:xfrm>
            <a:off x="7945719" y="6452999"/>
            <a:ext cx="90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  <p:pic>
        <p:nvPicPr>
          <p:cNvPr id="385" name="Google Shape;38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525" y="1045980"/>
            <a:ext cx="2497650" cy="5254619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93787" y="1045980"/>
            <a:ext cx="5104756" cy="19570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93775" y="3621213"/>
            <a:ext cx="3920575" cy="2213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/>
          <p:nvPr/>
        </p:nvSpPr>
        <p:spPr>
          <a:xfrm>
            <a:off x="502918" y="560830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 производительности </a:t>
            </a:r>
            <a:endParaRPr/>
          </a:p>
        </p:txBody>
      </p:sp>
      <p:sp>
        <p:nvSpPr>
          <p:cNvPr id="393" name="Google Shape;393;p36"/>
          <p:cNvSpPr/>
          <p:nvPr/>
        </p:nvSpPr>
        <p:spPr>
          <a:xfrm>
            <a:off x="457200" y="1268175"/>
            <a:ext cx="8229600" cy="24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11111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6"/>
          <p:cNvSpPr/>
          <p:nvPr/>
        </p:nvSpPr>
        <p:spPr>
          <a:xfrm>
            <a:off x="0" y="6692999"/>
            <a:ext cx="3048000" cy="1449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6"/>
          <p:cNvSpPr/>
          <p:nvPr/>
        </p:nvSpPr>
        <p:spPr>
          <a:xfrm>
            <a:off x="3048000" y="6692999"/>
            <a:ext cx="3048000" cy="144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6"/>
          <p:cNvSpPr/>
          <p:nvPr/>
        </p:nvSpPr>
        <p:spPr>
          <a:xfrm>
            <a:off x="6096000" y="6692999"/>
            <a:ext cx="3048000" cy="14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6"/>
          <p:cNvSpPr txBox="1"/>
          <p:nvPr/>
        </p:nvSpPr>
        <p:spPr>
          <a:xfrm>
            <a:off x="245718" y="6452999"/>
            <a:ext cx="270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398" name="Google Shape;398;p36"/>
          <p:cNvSpPr txBox="1"/>
          <p:nvPr/>
        </p:nvSpPr>
        <p:spPr>
          <a:xfrm>
            <a:off x="2645719" y="6452999"/>
            <a:ext cx="38085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399" name="Google Shape;399;p36"/>
          <p:cNvSpPr txBox="1"/>
          <p:nvPr/>
        </p:nvSpPr>
        <p:spPr>
          <a:xfrm>
            <a:off x="7945718" y="6452999"/>
            <a:ext cx="90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502919" y="1849599"/>
            <a:ext cx="47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Операция / Эндпоинт</a:t>
            </a:r>
            <a:endParaRPr sz="1600"/>
          </a:p>
        </p:txBody>
      </p:sp>
      <p:sp>
        <p:nvSpPr>
          <p:cNvPr id="401" name="Google Shape;401;p36"/>
          <p:cNvSpPr txBox="1"/>
          <p:nvPr/>
        </p:nvSpPr>
        <p:spPr>
          <a:xfrm>
            <a:off x="5425719" y="1849599"/>
            <a:ext cx="14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Порог</a:t>
            </a:r>
            <a:endParaRPr sz="1600"/>
          </a:p>
        </p:txBody>
      </p:sp>
      <p:sp>
        <p:nvSpPr>
          <p:cNvPr id="402" name="Google Shape;402;p36"/>
          <p:cNvSpPr txBox="1"/>
          <p:nvPr/>
        </p:nvSpPr>
        <p:spPr>
          <a:xfrm>
            <a:off x="7045719" y="1849599"/>
            <a:ext cx="11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400"/>
              <a:buFont typeface="Arial"/>
              <a:buNone/>
            </a:pPr>
            <a:r>
              <a:rPr b="1" i="0" lang="en-US" sz="1600" u="none" cap="none" strike="noStrike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Статус</a:t>
            </a:r>
            <a:endParaRPr sz="1600"/>
          </a:p>
        </p:txBody>
      </p:sp>
      <p:sp>
        <p:nvSpPr>
          <p:cNvPr id="403" name="Google Shape;403;p36"/>
          <p:cNvSpPr txBox="1"/>
          <p:nvPr/>
        </p:nvSpPr>
        <p:spPr>
          <a:xfrm>
            <a:off x="502919" y="2139600"/>
            <a:ext cx="47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Аутентификация  (/api/auth/*)</a:t>
            </a:r>
            <a:endParaRPr sz="1600"/>
          </a:p>
        </p:txBody>
      </p:sp>
      <p:sp>
        <p:nvSpPr>
          <p:cNvPr id="404" name="Google Shape;404;p36"/>
          <p:cNvSpPr txBox="1"/>
          <p:nvPr/>
        </p:nvSpPr>
        <p:spPr>
          <a:xfrm>
            <a:off x="5425719" y="2139600"/>
            <a:ext cx="14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 500 мс</a:t>
            </a:r>
            <a:endParaRPr sz="1600"/>
          </a:p>
        </p:txBody>
      </p:sp>
      <p:sp>
        <p:nvSpPr>
          <p:cNvPr id="405" name="Google Shape;405;p36"/>
          <p:cNvSpPr txBox="1"/>
          <p:nvPr/>
        </p:nvSpPr>
        <p:spPr>
          <a:xfrm>
            <a:off x="7045719" y="2139600"/>
            <a:ext cx="7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600"/>
          </a:p>
        </p:txBody>
      </p:sp>
      <p:sp>
        <p:nvSpPr>
          <p:cNvPr id="406" name="Google Shape;406;p36"/>
          <p:cNvSpPr txBox="1"/>
          <p:nvPr/>
        </p:nvSpPr>
        <p:spPr>
          <a:xfrm>
            <a:off x="502919" y="2549599"/>
            <a:ext cx="47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Чат-запросы  (/api/chat, /llm/chat)</a:t>
            </a:r>
            <a:endParaRPr sz="1600"/>
          </a:p>
        </p:txBody>
      </p:sp>
      <p:sp>
        <p:nvSpPr>
          <p:cNvPr id="407" name="Google Shape;407;p36"/>
          <p:cNvSpPr txBox="1"/>
          <p:nvPr/>
        </p:nvSpPr>
        <p:spPr>
          <a:xfrm>
            <a:off x="5425719" y="2549599"/>
            <a:ext cx="14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 2000 мс</a:t>
            </a:r>
            <a:endParaRPr sz="1600"/>
          </a:p>
        </p:txBody>
      </p:sp>
      <p:sp>
        <p:nvSpPr>
          <p:cNvPr id="408" name="Google Shape;408;p36"/>
          <p:cNvSpPr txBox="1"/>
          <p:nvPr/>
        </p:nvSpPr>
        <p:spPr>
          <a:xfrm>
            <a:off x="7045719" y="2549599"/>
            <a:ext cx="7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600"/>
          </a:p>
        </p:txBody>
      </p:sp>
      <p:sp>
        <p:nvSpPr>
          <p:cNvPr id="409" name="Google Shape;409;p36"/>
          <p:cNvSpPr txBox="1"/>
          <p:nvPr/>
        </p:nvSpPr>
        <p:spPr>
          <a:xfrm>
            <a:off x="502919" y="2959599"/>
            <a:ext cx="47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Справочные эндпоинты  (/api/models)</a:t>
            </a:r>
            <a:endParaRPr sz="1600"/>
          </a:p>
        </p:txBody>
      </p:sp>
      <p:sp>
        <p:nvSpPr>
          <p:cNvPr id="410" name="Google Shape;410;p36"/>
          <p:cNvSpPr txBox="1"/>
          <p:nvPr/>
        </p:nvSpPr>
        <p:spPr>
          <a:xfrm>
            <a:off x="5425719" y="2959599"/>
            <a:ext cx="14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 200 мс</a:t>
            </a:r>
            <a:endParaRPr sz="1600"/>
          </a:p>
        </p:txBody>
      </p:sp>
      <p:sp>
        <p:nvSpPr>
          <p:cNvPr id="411" name="Google Shape;411;p36"/>
          <p:cNvSpPr txBox="1"/>
          <p:nvPr/>
        </p:nvSpPr>
        <p:spPr>
          <a:xfrm>
            <a:off x="7045719" y="2959599"/>
            <a:ext cx="7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600"/>
          </a:p>
        </p:txBody>
      </p:sp>
      <p:sp>
        <p:nvSpPr>
          <p:cNvPr id="412" name="Google Shape;412;p36"/>
          <p:cNvSpPr txBox="1"/>
          <p:nvPr/>
        </p:nvSpPr>
        <p:spPr>
          <a:xfrm>
            <a:off x="502919" y="3369599"/>
            <a:ext cx="47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Health-check эндпоинты</a:t>
            </a:r>
            <a:endParaRPr sz="1600"/>
          </a:p>
        </p:txBody>
      </p:sp>
      <p:sp>
        <p:nvSpPr>
          <p:cNvPr id="413" name="Google Shape;413;p36"/>
          <p:cNvSpPr txBox="1"/>
          <p:nvPr/>
        </p:nvSpPr>
        <p:spPr>
          <a:xfrm>
            <a:off x="5425719" y="3369599"/>
            <a:ext cx="14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 100 мс</a:t>
            </a:r>
            <a:endParaRPr sz="1600"/>
          </a:p>
        </p:txBody>
      </p:sp>
      <p:sp>
        <p:nvSpPr>
          <p:cNvPr id="414" name="Google Shape;414;p36"/>
          <p:cNvSpPr txBox="1"/>
          <p:nvPr/>
        </p:nvSpPr>
        <p:spPr>
          <a:xfrm>
            <a:off x="7045719" y="3369599"/>
            <a:ext cx="7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600"/>
          </a:p>
        </p:txBody>
      </p:sp>
      <p:sp>
        <p:nvSpPr>
          <p:cNvPr id="415" name="Google Shape;415;p36"/>
          <p:cNvSpPr txBox="1"/>
          <p:nvPr/>
        </p:nvSpPr>
        <p:spPr>
          <a:xfrm>
            <a:off x="502919" y="3779599"/>
            <a:ext cx="47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Синхронные операции iOS-клиента</a:t>
            </a:r>
            <a:endParaRPr sz="1600"/>
          </a:p>
        </p:txBody>
      </p:sp>
      <p:sp>
        <p:nvSpPr>
          <p:cNvPr id="416" name="Google Shape;416;p36"/>
          <p:cNvSpPr txBox="1"/>
          <p:nvPr/>
        </p:nvSpPr>
        <p:spPr>
          <a:xfrm>
            <a:off x="5425719" y="3779599"/>
            <a:ext cx="14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≤ 50 мс</a:t>
            </a:r>
            <a:endParaRPr sz="1600"/>
          </a:p>
        </p:txBody>
      </p:sp>
      <p:sp>
        <p:nvSpPr>
          <p:cNvPr id="417" name="Google Shape;417;p36"/>
          <p:cNvSpPr txBox="1"/>
          <p:nvPr/>
        </p:nvSpPr>
        <p:spPr>
          <a:xfrm>
            <a:off x="7045719" y="3779599"/>
            <a:ext cx="70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</a:t>
            </a:r>
            <a:endParaRPr sz="1600"/>
          </a:p>
        </p:txBody>
      </p:sp>
      <p:sp>
        <p:nvSpPr>
          <p:cNvPr id="418" name="Google Shape;418;p36"/>
          <p:cNvSpPr txBox="1"/>
          <p:nvPr/>
        </p:nvSpPr>
        <p:spPr>
          <a:xfrm>
            <a:off x="480919" y="4474449"/>
            <a:ext cx="8138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20 / 20 тестов пройдено  ✅   </a:t>
            </a:r>
            <a:r>
              <a:rPr b="1" lang="en-US" sz="2000">
                <a:solidFill>
                  <a:srgbClr val="1A7C3E"/>
                </a:solidFill>
              </a:rPr>
              <a:t>-</a:t>
            </a:r>
            <a:r>
              <a:rPr b="1" i="0" lang="en-US" sz="20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   все операции укладываются в SLA-требования</a:t>
            </a:r>
            <a:endParaRPr/>
          </a:p>
        </p:txBody>
      </p:sp>
      <p:sp>
        <p:nvSpPr>
          <p:cNvPr id="419" name="Google Shape;419;p36"/>
          <p:cNvSpPr txBox="1"/>
          <p:nvPr/>
        </p:nvSpPr>
        <p:spPr>
          <a:xfrm>
            <a:off x="502944" y="5410900"/>
            <a:ext cx="813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 Нефункциональное требование «Время ответа API &lt; 3 сек» — выполнено</a:t>
            </a:r>
            <a:endParaRPr sz="16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7"/>
          <p:cNvSpPr txBox="1"/>
          <p:nvPr/>
        </p:nvSpPr>
        <p:spPr>
          <a:xfrm>
            <a:off x="502918" y="256030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 </a:t>
            </a:r>
            <a:r>
              <a:rPr b="1" lang="en-US" sz="3200"/>
              <a:t>надежности</a:t>
            </a:r>
            <a:endParaRPr/>
          </a:p>
        </p:txBody>
      </p:sp>
      <p:sp>
        <p:nvSpPr>
          <p:cNvPr id="425" name="Google Shape;425;p37"/>
          <p:cNvSpPr/>
          <p:nvPr/>
        </p:nvSpPr>
        <p:spPr>
          <a:xfrm>
            <a:off x="0" y="6692999"/>
            <a:ext cx="3048000" cy="1449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3048000" y="6692999"/>
            <a:ext cx="3048000" cy="144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6096000" y="6692999"/>
            <a:ext cx="3048000" cy="14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7"/>
          <p:cNvSpPr txBox="1"/>
          <p:nvPr/>
        </p:nvSpPr>
        <p:spPr>
          <a:xfrm>
            <a:off x="245718" y="6452999"/>
            <a:ext cx="161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429" name="Google Shape;429;p37"/>
          <p:cNvSpPr txBox="1"/>
          <p:nvPr/>
        </p:nvSpPr>
        <p:spPr>
          <a:xfrm>
            <a:off x="2737405" y="6452999"/>
            <a:ext cx="362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430" name="Google Shape;430;p37"/>
          <p:cNvSpPr txBox="1"/>
          <p:nvPr/>
        </p:nvSpPr>
        <p:spPr>
          <a:xfrm>
            <a:off x="8422586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31" name="Google Shape;431;p37"/>
          <p:cNvSpPr/>
          <p:nvPr/>
        </p:nvSpPr>
        <p:spPr>
          <a:xfrm>
            <a:off x="457200" y="868680"/>
            <a:ext cx="82296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7"/>
          <p:cNvSpPr txBox="1"/>
          <p:nvPr/>
        </p:nvSpPr>
        <p:spPr>
          <a:xfrm>
            <a:off x="502920" y="960000"/>
            <a:ext cx="3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Проверенные свойства</a:t>
            </a:r>
            <a:endParaRPr/>
          </a:p>
        </p:txBody>
      </p:sp>
      <p:sp>
        <p:nvSpPr>
          <p:cNvPr id="433" name="Google Shape;433;p37"/>
          <p:cNvSpPr txBox="1"/>
          <p:nvPr/>
        </p:nvSpPr>
        <p:spPr>
          <a:xfrm>
            <a:off x="502920" y="1259999"/>
            <a:ext cx="3808500" cy="50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Корректная деградация при отказе LLM</a:t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Отказ чат-сервиса не блокирует авторизацию</a:t>
            </a:r>
            <a:endParaRPr b="0" i="0" sz="16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Восстановление после временных сбоев</a:t>
            </a:r>
            <a:endParaRPr b="0" i="0" sz="16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isLoading корректно сбрасывается после ошибки</a:t>
            </a:r>
            <a:endParaRPr b="0" i="0" sz="16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Повторные ошибки не деградируют ViewModel</a:t>
            </a:r>
            <a:endParaRPr b="0" i="0" sz="16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Нет аварийных завершений при плохих данных</a:t>
            </a:r>
            <a:endParaRPr b="0" i="0" sz="1600" u="none" cap="none" strike="noStrike">
              <a:solidFill>
                <a:srgbClr val="11111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sz="1600">
              <a:solidFill>
                <a:srgbClr val="11111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Logout восстанавливает исходное состояние</a:t>
            </a:r>
            <a:endParaRPr sz="1600"/>
          </a:p>
        </p:txBody>
      </p:sp>
      <p:sp>
        <p:nvSpPr>
          <p:cNvPr id="434" name="Google Shape;434;p37"/>
          <p:cNvSpPr txBox="1"/>
          <p:nvPr/>
        </p:nvSpPr>
        <p:spPr>
          <a:xfrm>
            <a:off x="4945720" y="960000"/>
            <a:ext cx="3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Результаты</a:t>
            </a:r>
            <a:endParaRPr/>
          </a:p>
        </p:txBody>
      </p:sp>
      <p:sp>
        <p:nvSpPr>
          <p:cNvPr id="435" name="Google Shape;435;p37"/>
          <p:cNvSpPr txBox="1"/>
          <p:nvPr/>
        </p:nvSpPr>
        <p:spPr>
          <a:xfrm>
            <a:off x="4945720" y="1260000"/>
            <a:ext cx="380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29 / 29</a:t>
            </a:r>
            <a:endParaRPr/>
          </a:p>
        </p:txBody>
      </p:sp>
      <p:sp>
        <p:nvSpPr>
          <p:cNvPr id="436" name="Google Shape;436;p37"/>
          <p:cNvSpPr txBox="1"/>
          <p:nvPr/>
        </p:nvSpPr>
        <p:spPr>
          <a:xfrm>
            <a:off x="4945720" y="1769999"/>
            <a:ext cx="38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тестов пройдено</a:t>
            </a:r>
            <a:endParaRPr/>
          </a:p>
        </p:txBody>
      </p:sp>
      <p:sp>
        <p:nvSpPr>
          <p:cNvPr id="437" name="Google Shape;437;p37"/>
          <p:cNvSpPr txBox="1"/>
          <p:nvPr/>
        </p:nvSpPr>
        <p:spPr>
          <a:xfrm>
            <a:off x="4945720" y="2303525"/>
            <a:ext cx="3808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Система корректно обрабатывает сбои и восстанавливается после ошибок на всех уровнях.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8"/>
          <p:cNvSpPr txBox="1"/>
          <p:nvPr/>
        </p:nvSpPr>
        <p:spPr>
          <a:xfrm>
            <a:off x="502918" y="256030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Тестирование безопасности</a:t>
            </a:r>
            <a:endParaRPr/>
          </a:p>
        </p:txBody>
      </p:sp>
      <p:sp>
        <p:nvSpPr>
          <p:cNvPr id="443" name="Google Shape;443;p38"/>
          <p:cNvSpPr/>
          <p:nvPr/>
        </p:nvSpPr>
        <p:spPr>
          <a:xfrm>
            <a:off x="0" y="6692999"/>
            <a:ext cx="3048000" cy="1449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3048000" y="6692999"/>
            <a:ext cx="3048000" cy="144900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6096000" y="6692999"/>
            <a:ext cx="3048000" cy="144900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 txBox="1"/>
          <p:nvPr/>
        </p:nvSpPr>
        <p:spPr>
          <a:xfrm>
            <a:off x="245718" y="6452999"/>
            <a:ext cx="1615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447" name="Google Shape;447;p38"/>
          <p:cNvSpPr txBox="1"/>
          <p:nvPr/>
        </p:nvSpPr>
        <p:spPr>
          <a:xfrm>
            <a:off x="2737405" y="6452999"/>
            <a:ext cx="36252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448" name="Google Shape;448;p38"/>
          <p:cNvSpPr txBox="1"/>
          <p:nvPr/>
        </p:nvSpPr>
        <p:spPr>
          <a:xfrm>
            <a:off x="8422586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675" lIns="45675" spcFirstLastPara="1" rIns="45675" wrap="square" tIns="4567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449" name="Google Shape;449;p38"/>
          <p:cNvSpPr/>
          <p:nvPr/>
        </p:nvSpPr>
        <p:spPr>
          <a:xfrm>
            <a:off x="457200" y="868680"/>
            <a:ext cx="8229600" cy="249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8"/>
          <p:cNvSpPr txBox="1"/>
          <p:nvPr/>
        </p:nvSpPr>
        <p:spPr>
          <a:xfrm>
            <a:off x="502926" y="1036200"/>
            <a:ext cx="455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Покрытые направления тестирования</a:t>
            </a:r>
            <a:endParaRPr/>
          </a:p>
        </p:txBody>
      </p:sp>
      <p:sp>
        <p:nvSpPr>
          <p:cNvPr id="451" name="Google Shape;451;p38"/>
          <p:cNvSpPr txBox="1"/>
          <p:nvPr/>
        </p:nvSpPr>
        <p:spPr>
          <a:xfrm>
            <a:off x="502920" y="1431424"/>
            <a:ext cx="3808500" cy="45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JWT: просроченные / некорректные</a:t>
            </a:r>
            <a:r>
              <a:rPr lang="en-US" sz="1600">
                <a:solidFill>
                  <a:srgbClr val="111111"/>
                </a:solidFill>
              </a:rPr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поддельные токены </a:t>
            </a:r>
            <a:r>
              <a:rPr lang="en-US" sz="1600">
                <a:solidFill>
                  <a:srgbClr val="111111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блокируются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</a:t>
            </a:r>
            <a:r>
              <a:rPr lang="en-US" sz="1600">
                <a:solidFill>
                  <a:srgbClr val="111111"/>
                </a:solidFill>
              </a:rPr>
              <a:t>Защищенные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эндпоинты недоступны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без действующего JWT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SQL-инъекции в заголовке Authorization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XSS, shell-инъекции, oversized payload </a:t>
            </a:r>
            <a:r>
              <a:rPr lang="en-US" sz="1600">
                <a:solidFill>
                  <a:srgbClr val="111111"/>
                </a:solidFill>
              </a:rPr>
              <a:t>-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корректная обработка (400 / 422)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CORS-заголовки </a:t>
            </a:r>
            <a:r>
              <a:rPr lang="en-US" sz="1600">
                <a:solidFill>
                  <a:srgbClr val="111111"/>
                </a:solidFill>
              </a:rPr>
              <a:t>-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 проверены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4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✅  iOS: защита от XSS/SQL в полях ввода,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некорректных email, длинных строк</a:t>
            </a:r>
            <a:endParaRPr sz="1600"/>
          </a:p>
        </p:txBody>
      </p:sp>
      <p:sp>
        <p:nvSpPr>
          <p:cNvPr id="452" name="Google Shape;452;p38"/>
          <p:cNvSpPr txBox="1"/>
          <p:nvPr/>
        </p:nvSpPr>
        <p:spPr>
          <a:xfrm>
            <a:off x="4945720" y="1036200"/>
            <a:ext cx="380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11111"/>
                </a:solidFill>
                <a:latin typeface="Arial"/>
                <a:ea typeface="Arial"/>
                <a:cs typeface="Arial"/>
                <a:sym typeface="Arial"/>
              </a:rPr>
              <a:t>Результаты</a:t>
            </a:r>
            <a:endParaRPr/>
          </a:p>
        </p:txBody>
      </p:sp>
      <p:sp>
        <p:nvSpPr>
          <p:cNvPr id="453" name="Google Shape;453;p38"/>
          <p:cNvSpPr txBox="1"/>
          <p:nvPr/>
        </p:nvSpPr>
        <p:spPr>
          <a:xfrm>
            <a:off x="4945720" y="1336200"/>
            <a:ext cx="38085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3800"/>
              <a:buFont typeface="Arial"/>
              <a:buNone/>
            </a:pPr>
            <a:r>
              <a:rPr b="1" i="0" lang="en-US" sz="38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34 / 34</a:t>
            </a:r>
            <a:endParaRPr/>
          </a:p>
        </p:txBody>
      </p:sp>
      <p:sp>
        <p:nvSpPr>
          <p:cNvPr id="454" name="Google Shape;454;p38"/>
          <p:cNvSpPr txBox="1"/>
          <p:nvPr/>
        </p:nvSpPr>
        <p:spPr>
          <a:xfrm>
            <a:off x="4945720" y="1846199"/>
            <a:ext cx="3808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тестов пройдено</a:t>
            </a:r>
            <a:endParaRPr/>
          </a:p>
        </p:txBody>
      </p:sp>
      <p:sp>
        <p:nvSpPr>
          <p:cNvPr id="455" name="Google Shape;455;p38"/>
          <p:cNvSpPr txBox="1"/>
          <p:nvPr/>
        </p:nvSpPr>
        <p:spPr>
          <a:xfrm>
            <a:off x="4945720" y="2247725"/>
            <a:ext cx="38085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7C3E"/>
              </a:buClr>
              <a:buSzPts val="1300"/>
              <a:buFont typeface="Arial"/>
              <a:buNone/>
            </a:pPr>
            <a:r>
              <a:rPr b="0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✅ Нефункц. требование:</a:t>
            </a:r>
            <a:r>
              <a:rPr lang="en-US" sz="1600"/>
              <a:t> </a:t>
            </a:r>
            <a:r>
              <a:rPr b="0" i="0" lang="en-US" sz="1600" u="none" cap="none" strike="noStrike">
                <a:solidFill>
                  <a:srgbClr val="1A7C3E"/>
                </a:solidFill>
                <a:latin typeface="Arial"/>
                <a:ea typeface="Arial"/>
                <a:cs typeface="Arial"/>
                <a:sym typeface="Arial"/>
              </a:rPr>
              <a:t>«JWT-аутентификация, HTTPS»</a:t>
            </a:r>
            <a:endParaRPr sz="16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9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Тестирование Backend и LLM-сервиса</a:t>
            </a:r>
            <a:endParaRPr b="1"/>
          </a:p>
        </p:txBody>
      </p:sp>
      <p:sp>
        <p:nvSpPr>
          <p:cNvPr id="461" name="Google Shape;461;p39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9"/>
          <p:cNvSpPr txBox="1"/>
          <p:nvPr/>
        </p:nvSpPr>
        <p:spPr>
          <a:xfrm>
            <a:off x="482599" y="1056682"/>
            <a:ext cx="2103122" cy="58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349</a:t>
            </a:r>
            <a:endParaRPr/>
          </a:p>
        </p:txBody>
      </p:sp>
      <p:sp>
        <p:nvSpPr>
          <p:cNvPr id="463" name="Google Shape;463;p39"/>
          <p:cNvSpPr txBox="1"/>
          <p:nvPr/>
        </p:nvSpPr>
        <p:spPr>
          <a:xfrm>
            <a:off x="482599" y="1724194"/>
            <a:ext cx="2103122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тестов всего</a:t>
            </a:r>
            <a:endParaRPr/>
          </a:p>
        </p:txBody>
      </p:sp>
      <p:sp>
        <p:nvSpPr>
          <p:cNvPr id="464" name="Google Shape;464;p39"/>
          <p:cNvSpPr txBox="1"/>
          <p:nvPr/>
        </p:nvSpPr>
        <p:spPr>
          <a:xfrm>
            <a:off x="2860039" y="1056682"/>
            <a:ext cx="2103121" cy="58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131</a:t>
            </a:r>
            <a:endParaRPr/>
          </a:p>
        </p:txBody>
      </p:sp>
      <p:sp>
        <p:nvSpPr>
          <p:cNvPr id="465" name="Google Shape;465;p39"/>
          <p:cNvSpPr txBox="1"/>
          <p:nvPr/>
        </p:nvSpPr>
        <p:spPr>
          <a:xfrm>
            <a:off x="2860039" y="1724194"/>
            <a:ext cx="2103121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Backend (Java)</a:t>
            </a:r>
            <a:endParaRPr/>
          </a:p>
        </p:txBody>
      </p:sp>
      <p:sp>
        <p:nvSpPr>
          <p:cNvPr id="466" name="Google Shape;466;p39"/>
          <p:cNvSpPr txBox="1"/>
          <p:nvPr/>
        </p:nvSpPr>
        <p:spPr>
          <a:xfrm>
            <a:off x="5237480" y="1056682"/>
            <a:ext cx="2103121" cy="58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218</a:t>
            </a:r>
            <a:endParaRPr/>
          </a:p>
        </p:txBody>
      </p:sp>
      <p:sp>
        <p:nvSpPr>
          <p:cNvPr id="467" name="Google Shape;467;p39"/>
          <p:cNvSpPr txBox="1"/>
          <p:nvPr/>
        </p:nvSpPr>
        <p:spPr>
          <a:xfrm>
            <a:off x="5237480" y="1724194"/>
            <a:ext cx="2103121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LLM (Python)</a:t>
            </a:r>
            <a:endParaRPr/>
          </a:p>
        </p:txBody>
      </p:sp>
      <p:sp>
        <p:nvSpPr>
          <p:cNvPr id="468" name="Google Shape;468;p39"/>
          <p:cNvSpPr txBox="1"/>
          <p:nvPr/>
        </p:nvSpPr>
        <p:spPr>
          <a:xfrm>
            <a:off x="7249159" y="1056682"/>
            <a:ext cx="2103121" cy="5818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100%</a:t>
            </a:r>
            <a:endParaRPr/>
          </a:p>
        </p:txBody>
      </p:sp>
      <p:sp>
        <p:nvSpPr>
          <p:cNvPr id="469" name="Google Shape;469;p39"/>
          <p:cNvSpPr txBox="1"/>
          <p:nvPr/>
        </p:nvSpPr>
        <p:spPr>
          <a:xfrm>
            <a:off x="7249159" y="1724194"/>
            <a:ext cx="2103121" cy="25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пройдено</a:t>
            </a:r>
            <a:endParaRPr/>
          </a:p>
        </p:txBody>
      </p:sp>
      <p:sp>
        <p:nvSpPr>
          <p:cNvPr id="470" name="Google Shape;470;p39"/>
          <p:cNvSpPr/>
          <p:nvPr/>
        </p:nvSpPr>
        <p:spPr>
          <a:xfrm>
            <a:off x="457200" y="2212848"/>
            <a:ext cx="8229600" cy="2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9"/>
          <p:cNvSpPr txBox="1"/>
          <p:nvPr/>
        </p:nvSpPr>
        <p:spPr>
          <a:xfrm>
            <a:off x="502919" y="2359151"/>
            <a:ext cx="3840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</a:rPr>
              <a:t>Backend</a:t>
            </a:r>
            <a:endParaRPr/>
          </a:p>
        </p:txBody>
      </p:sp>
      <p:graphicFrame>
        <p:nvGraphicFramePr>
          <p:cNvPr id="472" name="Google Shape;472;p39"/>
          <p:cNvGraphicFramePr/>
          <p:nvPr/>
        </p:nvGraphicFramePr>
        <p:xfrm>
          <a:off x="457200" y="2816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{2EF87AC3-0995-4CF7-9E24-4A9C199C7E75}</a:tableStyleId>
              </a:tblPr>
              <a:tblGrid>
                <a:gridCol w="2103125"/>
                <a:gridCol w="914400"/>
                <a:gridCol w="914400"/>
              </a:tblGrid>
              <a:tr h="40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Модуль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Тестов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Статус</a:t>
                      </a:r>
                      <a:endParaRPr sz="16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JWT / Аутентификация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28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Auth Controller/Service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15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Безопасность (Security)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Надежность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9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Производительность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Verse / Chat контроллеры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Прочие модули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56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✅</a:t>
                      </a:r>
                      <a:endParaRPr sz="16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73" name="Google Shape;473;p39"/>
          <p:cNvSpPr/>
          <p:nvPr/>
        </p:nvSpPr>
        <p:spPr>
          <a:xfrm>
            <a:off x="4572000" y="2286000"/>
            <a:ext cx="22001" cy="3840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39"/>
          <p:cNvSpPr txBox="1"/>
          <p:nvPr/>
        </p:nvSpPr>
        <p:spPr>
          <a:xfrm>
            <a:off x="4800600" y="2359151"/>
            <a:ext cx="40233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</a:rPr>
              <a:t>LLM-сервис</a:t>
            </a:r>
            <a:endParaRPr/>
          </a:p>
        </p:txBody>
      </p:sp>
      <p:graphicFrame>
        <p:nvGraphicFramePr>
          <p:cNvPr id="475" name="Google Shape;475;p39"/>
          <p:cNvGraphicFramePr/>
          <p:nvPr/>
        </p:nvGraphicFramePr>
        <p:xfrm>
          <a:off x="4754879" y="281635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{2EF87AC3-0995-4CF7-9E24-4A9C199C7E75}</a:tableStyleId>
              </a:tblPr>
              <a:tblGrid>
                <a:gridCol w="2194550"/>
                <a:gridCol w="914400"/>
                <a:gridCol w="1005850"/>
              </a:tblGrid>
              <a:tr h="4057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Модуль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Тестов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chemeClr val="dk1"/>
                          </a:solidFill>
                        </a:rPr>
                        <a:t>Статус</a:t>
                      </a:r>
                      <a:endParaRPr sz="16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45725" marL="45725">
                    <a:solidFill>
                      <a:srgbClr val="C8D6C6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Chat Service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16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Безопасность API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14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>
                          <a:solidFill>
                            <a:srgbClr val="111111"/>
                          </a:solidFill>
                        </a:rPr>
                        <a:t>Надежность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11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Производительность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6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Vector Store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5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OpenRouter / DTO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11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FFFFF"/>
                    </a:solidFill>
                  </a:tcPr>
                </a:tc>
              </a:tr>
              <a:tr h="405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Прочие модули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11111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300" u="none" cap="none" strike="noStrike">
                          <a:solidFill>
                            <a:srgbClr val="111111"/>
                          </a:solidFill>
                        </a:rPr>
                        <a:t>155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8A1A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300" u="none" cap="none" strike="noStrike">
                          <a:solidFill>
                            <a:srgbClr val="1A8A1A"/>
                          </a:solidFill>
                        </a:rPr>
                        <a:t>✅</a:t>
                      </a:r>
                      <a:endParaRPr sz="1600"/>
                    </a:p>
                  </a:txBody>
                  <a:tcPr marT="45725" marB="45725" marR="45725" marL="45725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476" name="Google Shape;476;p39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9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9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9"/>
          <p:cNvSpPr txBox="1"/>
          <p:nvPr/>
        </p:nvSpPr>
        <p:spPr>
          <a:xfrm>
            <a:off x="245719" y="6452999"/>
            <a:ext cx="270856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480" name="Google Shape;480;p39"/>
          <p:cNvSpPr txBox="1"/>
          <p:nvPr/>
        </p:nvSpPr>
        <p:spPr>
          <a:xfrm>
            <a:off x="2645720" y="6452999"/>
            <a:ext cx="3808560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481" name="Google Shape;481;p39"/>
          <p:cNvSpPr txBox="1"/>
          <p:nvPr/>
        </p:nvSpPr>
        <p:spPr>
          <a:xfrm>
            <a:off x="7945719" y="6452999"/>
            <a:ext cx="908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40"/>
          <p:cNvSpPr txBox="1"/>
          <p:nvPr/>
        </p:nvSpPr>
        <p:spPr>
          <a:xfrm>
            <a:off x="502919" y="256031"/>
            <a:ext cx="8138100" cy="53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</a:rPr>
              <a:t>Демонстрация приложения</a:t>
            </a:r>
            <a:endParaRPr b="1"/>
          </a:p>
        </p:txBody>
      </p:sp>
      <p:sp>
        <p:nvSpPr>
          <p:cNvPr id="487" name="Google Shape;487;p40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40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40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40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40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492" name="Google Shape;492;p40"/>
          <p:cNvSpPr txBox="1"/>
          <p:nvPr/>
        </p:nvSpPr>
        <p:spPr>
          <a:xfrm>
            <a:off x="2737404" y="6452999"/>
            <a:ext cx="3625192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493" name="Google Shape;493;p40"/>
          <p:cNvSpPr txBox="1"/>
          <p:nvPr/>
        </p:nvSpPr>
        <p:spPr>
          <a:xfrm>
            <a:off x="8422587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20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pic>
        <p:nvPicPr>
          <p:cNvPr descr="Изображение" id="494" name="Google Shape;49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293" y="1365342"/>
            <a:ext cx="4267619" cy="46159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Изображение" id="495" name="Google Shape;495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1086" y="1365342"/>
            <a:ext cx="4220621" cy="46159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1"/>
          <p:cNvSpPr txBox="1"/>
          <p:nvPr/>
        </p:nvSpPr>
        <p:spPr>
          <a:xfrm>
            <a:off x="502919" y="256031"/>
            <a:ext cx="8138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</a:rPr>
              <a:t>Итоги работы</a:t>
            </a:r>
            <a:endParaRPr/>
          </a:p>
        </p:txBody>
      </p:sp>
      <p:sp>
        <p:nvSpPr>
          <p:cNvPr id="501" name="Google Shape;501;p41"/>
          <p:cNvSpPr txBox="1"/>
          <p:nvPr/>
        </p:nvSpPr>
        <p:spPr>
          <a:xfrm>
            <a:off x="502920" y="1844039"/>
            <a:ext cx="37491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</a:rPr>
              <a:t>Что реализовано</a:t>
            </a:r>
            <a:endParaRPr b="1" sz="1500"/>
          </a:p>
        </p:txBody>
      </p:sp>
      <p:sp>
        <p:nvSpPr>
          <p:cNvPr id="502" name="Google Shape;502;p41"/>
          <p:cNvSpPr txBox="1"/>
          <p:nvPr/>
        </p:nvSpPr>
        <p:spPr>
          <a:xfrm>
            <a:off x="502920" y="2301239"/>
            <a:ext cx="3749100" cy="28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iOS-приложение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Backend на Spring Boot + JWT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LLM-сервис с RAG-пайплайном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OCR-сканер халяльности продуктов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Векторный поиск по всему Корану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Расчёт намаза по координатам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✅ Тестирование всех модулей системы</a:t>
            </a:r>
            <a:endParaRPr/>
          </a:p>
        </p:txBody>
      </p:sp>
      <p:sp>
        <p:nvSpPr>
          <p:cNvPr id="503" name="Google Shape;503;p41"/>
          <p:cNvSpPr/>
          <p:nvPr/>
        </p:nvSpPr>
        <p:spPr>
          <a:xfrm flipH="1">
            <a:off x="4509072" y="1837751"/>
            <a:ext cx="18000" cy="44715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1"/>
          <p:cNvSpPr txBox="1"/>
          <p:nvPr/>
        </p:nvSpPr>
        <p:spPr>
          <a:xfrm>
            <a:off x="4709160" y="1844039"/>
            <a:ext cx="4114800" cy="32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b="1" i="0" lang="en-US" sz="1700" u="none" cap="none" strike="noStrike">
                <a:solidFill>
                  <a:srgbClr val="000000"/>
                </a:solidFill>
              </a:rPr>
              <a:t>Направления развития</a:t>
            </a:r>
            <a:endParaRPr sz="1500"/>
          </a:p>
        </p:txBody>
      </p:sp>
      <p:sp>
        <p:nvSpPr>
          <p:cNvPr id="505" name="Google Shape;505;p41"/>
          <p:cNvSpPr txBox="1"/>
          <p:nvPr/>
        </p:nvSpPr>
        <p:spPr>
          <a:xfrm>
            <a:off x="4709160" y="2301239"/>
            <a:ext cx="4114800" cy="171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→ Кибла (направление на Мекку)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→ Исламский календарь и события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→ Android-версия приложения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→ Расширение базы халяль-продуктов</a:t>
            </a:r>
            <a:endParaRPr sz="1600"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alibri"/>
              <a:buNone/>
            </a:pPr>
            <a:r>
              <a:rPr i="0" lang="en-US" sz="1600" u="none" cap="none" strike="noStrike">
                <a:solidFill>
                  <a:srgbClr val="000000"/>
                </a:solidFill>
              </a:rPr>
              <a:t>→ Офлайн-режим (on-device ML)</a:t>
            </a:r>
            <a:endParaRPr sz="1600"/>
          </a:p>
        </p:txBody>
      </p:sp>
      <p:sp>
        <p:nvSpPr>
          <p:cNvPr id="506" name="Google Shape;506;p41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1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1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1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510" name="Google Shape;510;p41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511" name="Google Shape;511;p41"/>
          <p:cNvSpPr txBox="1"/>
          <p:nvPr/>
        </p:nvSpPr>
        <p:spPr>
          <a:xfrm>
            <a:off x="8422587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21</a:t>
            </a: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 / 2</a:t>
            </a: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512" name="Google Shape;512;p41"/>
          <p:cNvSpPr/>
          <p:nvPr/>
        </p:nvSpPr>
        <p:spPr>
          <a:xfrm>
            <a:off x="457200" y="868680"/>
            <a:ext cx="8229600" cy="25001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1"/>
          <p:cNvSpPr txBox="1"/>
          <p:nvPr/>
        </p:nvSpPr>
        <p:spPr>
          <a:xfrm>
            <a:off x="502925" y="1066800"/>
            <a:ext cx="83211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/>
              <a:t>Цель работы достигнута - разработано многофункциональное iOS-приложение для мусульман</a:t>
            </a:r>
            <a:endParaRPr b="1"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42"/>
          <p:cNvSpPr txBox="1"/>
          <p:nvPr/>
        </p:nvSpPr>
        <p:spPr>
          <a:xfrm>
            <a:off x="2622749" y="3182700"/>
            <a:ext cx="389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111111"/>
                </a:solidFill>
              </a:rPr>
              <a:t>Спасибо за внимание!</a:t>
            </a:r>
            <a:endParaRPr/>
          </a:p>
        </p:txBody>
      </p:sp>
      <p:sp>
        <p:nvSpPr>
          <p:cNvPr id="519" name="Google Shape;519;p42"/>
          <p:cNvSpPr/>
          <p:nvPr/>
        </p:nvSpPr>
        <p:spPr>
          <a:xfrm>
            <a:off x="0" y="6692999"/>
            <a:ext cx="3048000" cy="145001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2"/>
          <p:cNvSpPr/>
          <p:nvPr/>
        </p:nvSpPr>
        <p:spPr>
          <a:xfrm>
            <a:off x="3048000" y="6692999"/>
            <a:ext cx="3048000" cy="145001"/>
          </a:xfrm>
          <a:prstGeom prst="rect">
            <a:avLst/>
          </a:prstGeom>
          <a:solidFill>
            <a:srgbClr val="2E4A7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2"/>
          <p:cNvSpPr/>
          <p:nvPr/>
        </p:nvSpPr>
        <p:spPr>
          <a:xfrm>
            <a:off x="6096000" y="6692999"/>
            <a:ext cx="3048000" cy="145001"/>
          </a:xfrm>
          <a:prstGeom prst="rect">
            <a:avLst/>
          </a:prstGeom>
          <a:solidFill>
            <a:srgbClr val="6A1B9A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42"/>
          <p:cNvSpPr txBox="1"/>
          <p:nvPr/>
        </p:nvSpPr>
        <p:spPr>
          <a:xfrm>
            <a:off x="245719" y="6452999"/>
            <a:ext cx="1615882" cy="2059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Сабирзянов Мирсаит Раисович</a:t>
            </a:r>
            <a:endParaRPr/>
          </a:p>
        </p:txBody>
      </p:sp>
      <p:sp>
        <p:nvSpPr>
          <p:cNvPr id="523" name="Google Shape;523;p42"/>
          <p:cNvSpPr txBox="1"/>
          <p:nvPr/>
        </p:nvSpPr>
        <p:spPr>
          <a:xfrm>
            <a:off x="2737405" y="6452999"/>
            <a:ext cx="3625191" cy="176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ПРОЕКТИРОВАНИЕ И РЕАЛИЗАЦИЯ iOS-ПРИЛОЖЕНИЯ КАК КОМПЛЕКСНОГО ПОМОЩНИКА ДЛЯ МУСУЛЬМАН</a:t>
            </a:r>
            <a:endParaRPr/>
          </a:p>
        </p:txBody>
      </p:sp>
      <p:sp>
        <p:nvSpPr>
          <p:cNvPr id="524" name="Google Shape;524;p42"/>
          <p:cNvSpPr txBox="1"/>
          <p:nvPr/>
        </p:nvSpPr>
        <p:spPr>
          <a:xfrm>
            <a:off x="8422587" y="6452999"/>
            <a:ext cx="4317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55555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555555"/>
                </a:solidFill>
                <a:latin typeface="Calibri"/>
                <a:ea typeface="Calibri"/>
                <a:cs typeface="Calibri"/>
                <a:sym typeface="Calibri"/>
              </a:rPr>
              <a:t>22 / 22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262626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262626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